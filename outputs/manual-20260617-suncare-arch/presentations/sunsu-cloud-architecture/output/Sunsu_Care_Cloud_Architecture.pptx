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4b56094a74d48" /><Relationship Type="http://schemas.openxmlformats.org/officeDocument/2006/relationships/extended-properties" Target="/docProps/app.xml" Id="R6d83aab8eff24945" /><Relationship Type="http://schemas.openxmlformats.org/officeDocument/2006/relationships/officeDocument" Target="/ppt/presentation.xml" Id="Re6220a47738b40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a5ed1530e9411d"/>
  </p:sldMasterIdLst>
  <p:notesMasterIdLst>
    <p:notesMasterId xmlns:r="http://schemas.openxmlformats.org/officeDocument/2006/relationships" r:id="R82246fb8b7884867"/>
  </p:notesMasterIdLst>
  <p:sldIdLst>
    <p:sldId xmlns:r="http://schemas.openxmlformats.org/officeDocument/2006/relationships" id="256" r:id="R5219bef136eb423e"/>
    <p:sldId xmlns:r="http://schemas.openxmlformats.org/officeDocument/2006/relationships" id="257" r:id="R4f1a2976c3174c5c"/>
    <p:sldId xmlns:r="http://schemas.openxmlformats.org/officeDocument/2006/relationships" id="258" r:id="R202057e7029d45d5"/>
    <p:sldId xmlns:r="http://schemas.openxmlformats.org/officeDocument/2006/relationships" id="259" r:id="R3ecb009454be4333"/>
    <p:sldId xmlns:r="http://schemas.openxmlformats.org/officeDocument/2006/relationships" id="260" r:id="R92a8f8a84fb54ba1"/>
    <p:sldId xmlns:r="http://schemas.openxmlformats.org/officeDocument/2006/relationships" id="261" r:id="R4b97e757043b44c8"/>
    <p:sldId xmlns:r="http://schemas.openxmlformats.org/officeDocument/2006/relationships" id="262" r:id="Ra17d585a933e470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cd462dab944cd6" /><Relationship Type="http://schemas.openxmlformats.org/officeDocument/2006/relationships/slideMaster" Target="/ppt/slideMasters/slideMaster1.xml" Id="Re2a5ed1530e9411d" /><Relationship Type="http://schemas.openxmlformats.org/officeDocument/2006/relationships/notesMaster" Target="/ppt/notesMasters/notesMaster1.xml" Id="R82246fb8b7884867" /><Relationship Type="http://schemas.openxmlformats.org/officeDocument/2006/relationships/presProps" Target="/ppt/presProps.xml" Id="Rce8b2a757e9645e9" /><Relationship Type="http://schemas.openxmlformats.org/officeDocument/2006/relationships/viewProps" Target="/ppt/viewProps.xml" Id="R4541b8358d1a42cd" /><Relationship Type="http://schemas.openxmlformats.org/officeDocument/2006/relationships/tableStyles" Target="/ppt/tableStyles.xml" Id="Rd580431f5aa14825" /><Relationship Type="http://schemas.openxmlformats.org/officeDocument/2006/relationships/slide" Target="/ppt/slides/slide1.xml" Id="R5219bef136eb423e" /><Relationship Type="http://schemas.openxmlformats.org/officeDocument/2006/relationships/slide" Target="/ppt/slides/slide2.xml" Id="R4f1a2976c3174c5c" /><Relationship Type="http://schemas.openxmlformats.org/officeDocument/2006/relationships/slide" Target="/ppt/slides/slide3.xml" Id="R202057e7029d45d5" /><Relationship Type="http://schemas.openxmlformats.org/officeDocument/2006/relationships/slide" Target="/ppt/slides/slide4.xml" Id="R3ecb009454be4333" /><Relationship Type="http://schemas.openxmlformats.org/officeDocument/2006/relationships/slide" Target="/ppt/slides/slide5.xml" Id="R92a8f8a84fb54ba1" /><Relationship Type="http://schemas.openxmlformats.org/officeDocument/2006/relationships/slide" Target="/ppt/slides/slide6.xml" Id="R4b97e757043b44c8" /><Relationship Type="http://schemas.openxmlformats.org/officeDocument/2006/relationships/slide" Target="/ppt/slides/slide7.xml" Id="Ra17d585a933e47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b5f79d56284c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13ae2bca964d32" /><Relationship Type="http://schemas.openxmlformats.org/officeDocument/2006/relationships/notesMaster" Target="/ppt/notesMasters/notesMaster1.xml" Id="R9cf5ec3ecc394c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96cea8e7884a29" /><Relationship Type="http://schemas.openxmlformats.org/officeDocument/2006/relationships/notesMaster" Target="/ppt/notesMasters/notesMaster1.xml" Id="Rf2391bee3bca46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35c999e2ab481b" /><Relationship Type="http://schemas.openxmlformats.org/officeDocument/2006/relationships/notesMaster" Target="/ppt/notesMasters/notesMaster1.xml" Id="Rc814a168e59049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7d690721e64409" /><Relationship Type="http://schemas.openxmlformats.org/officeDocument/2006/relationships/notesMaster" Target="/ppt/notesMasters/notesMaster1.xml" Id="R2c82bc6e0b884b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7890ae038a4279" /><Relationship Type="http://schemas.openxmlformats.org/officeDocument/2006/relationships/notesMaster" Target="/ppt/notesMasters/notesMaster1.xml" Id="Ra26a975ccae44c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361828651b4c62" /><Relationship Type="http://schemas.openxmlformats.org/officeDocument/2006/relationships/notesMaster" Target="/ppt/notesMasters/notesMaster1.xml" Id="R5d3dace0db464a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efa65462264e01" /><Relationship Type="http://schemas.openxmlformats.org/officeDocument/2006/relationships/notesMaster" Target="/ppt/notesMasters/notesMaster1.xml" Id="R14608497e16f42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1fa22d1d4845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24a5daf41f4496" /><Relationship Type="http://schemas.openxmlformats.org/officeDocument/2006/relationships/slideLayout" Target="/ppt/slideLayouts/slideLayout1.xml" Id="R0f880049897f47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880049897f47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1dcc2a5da4163" /><Relationship Type="http://schemas.openxmlformats.org/officeDocument/2006/relationships/image" Target="/ppt/media/image.png" Id="R40de4832181a4680" /><Relationship Type="http://schemas.openxmlformats.org/officeDocument/2006/relationships/image" Target="/ppt/media/image.svg" Id="R9e313ae76713488e" /><Relationship Type="http://schemas.openxmlformats.org/officeDocument/2006/relationships/image" Target="/ppt/media/image2.png" Id="Re3646de89a6147ee" /><Relationship Type="http://schemas.openxmlformats.org/officeDocument/2006/relationships/image" Target="/ppt/media/image2.svg" Id="Rc38eb877c6494cc8" /><Relationship Type="http://schemas.openxmlformats.org/officeDocument/2006/relationships/image" Target="/ppt/media/image3.png" Id="R0dab9098e7724bc5" /><Relationship Type="http://schemas.openxmlformats.org/officeDocument/2006/relationships/image" Target="/ppt/media/image3.svg" Id="R4803649a4ee84145" /><Relationship Type="http://schemas.openxmlformats.org/officeDocument/2006/relationships/image" Target="/ppt/media/image4.png" Id="R4ec8ab61f8ae495d" /><Relationship Type="http://schemas.openxmlformats.org/officeDocument/2006/relationships/image" Target="/ppt/media/image4.svg" Id="R348314deaf2247b6" /><Relationship Type="http://schemas.openxmlformats.org/officeDocument/2006/relationships/notesSlide" Target="/ppt/notesSlides/notesSlide1.xml" Id="R44f1cc9561bb49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470f718874f3c" /><Relationship Type="http://schemas.openxmlformats.org/officeDocument/2006/relationships/image" Target="/ppt/media/image5.png" Id="Rd91377731b5d40e8" /><Relationship Type="http://schemas.openxmlformats.org/officeDocument/2006/relationships/image" Target="/ppt/media/image5.svg" Id="R3a5d205fa2c541b8" /><Relationship Type="http://schemas.openxmlformats.org/officeDocument/2006/relationships/image" Target="/ppt/media/image6.png" Id="R8bef9f00e43a43fb" /><Relationship Type="http://schemas.openxmlformats.org/officeDocument/2006/relationships/image" Target="/ppt/media/image6.svg" Id="Rc1c02a831e2149ae" /><Relationship Type="http://schemas.openxmlformats.org/officeDocument/2006/relationships/image" Target="/ppt/media/image7.png" Id="R61a3776dd8ca4e59" /><Relationship Type="http://schemas.openxmlformats.org/officeDocument/2006/relationships/image" Target="/ppt/media/image7.svg" Id="Rea74f9b394ef46e1" /><Relationship Type="http://schemas.openxmlformats.org/officeDocument/2006/relationships/image" Target="/ppt/media/image8.png" Id="R28816dc7e86e41f9" /><Relationship Type="http://schemas.openxmlformats.org/officeDocument/2006/relationships/image" Target="/ppt/media/image8.svg" Id="Reed84d0c840b45da" /><Relationship Type="http://schemas.openxmlformats.org/officeDocument/2006/relationships/image" Target="/ppt/media/image9.png" Id="Rbd4345abf2ca4174" /><Relationship Type="http://schemas.openxmlformats.org/officeDocument/2006/relationships/image" Target="/ppt/media/image9.svg" Id="R0d0b07cc524d4bd0" /><Relationship Type="http://schemas.openxmlformats.org/officeDocument/2006/relationships/image" Target="/ppt/media/image10.png" Id="R5ab221775bf5430a" /><Relationship Type="http://schemas.openxmlformats.org/officeDocument/2006/relationships/image" Target="/ppt/media/image10.svg" Id="R789c1e46c2634726" /><Relationship Type="http://schemas.openxmlformats.org/officeDocument/2006/relationships/image" Target="/ppt/media/image11.png" Id="Rcc5a345630cc4403" /><Relationship Type="http://schemas.openxmlformats.org/officeDocument/2006/relationships/image" Target="/ppt/media/image11.svg" Id="R76d03258e0244084" /><Relationship Type="http://schemas.openxmlformats.org/officeDocument/2006/relationships/notesSlide" Target="/ppt/notesSlides/notesSlide2.xml" Id="Rb615b2f27db94e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93f55202c418f" /><Relationship Type="http://schemas.openxmlformats.org/officeDocument/2006/relationships/image" Target="/ppt/media/image12.png" Id="R9aa50e6b379b4f63" /><Relationship Type="http://schemas.openxmlformats.org/officeDocument/2006/relationships/image" Target="/ppt/media/image12.svg" Id="Rf98ba317affb4ed4" /><Relationship Type="http://schemas.openxmlformats.org/officeDocument/2006/relationships/image" Target="/ppt/media/image13.png" Id="R8c0116895a3641eb" /><Relationship Type="http://schemas.openxmlformats.org/officeDocument/2006/relationships/image" Target="/ppt/media/image13.svg" Id="R7a8e1836a9ef4d72" /><Relationship Type="http://schemas.openxmlformats.org/officeDocument/2006/relationships/image" Target="/ppt/media/image14.png" Id="R088fc50783434424" /><Relationship Type="http://schemas.openxmlformats.org/officeDocument/2006/relationships/image" Target="/ppt/media/image14.svg" Id="R2b81519d4788471b" /><Relationship Type="http://schemas.openxmlformats.org/officeDocument/2006/relationships/image" Target="/ppt/media/image15.png" Id="Rc5b24b70ad60470c" /><Relationship Type="http://schemas.openxmlformats.org/officeDocument/2006/relationships/image" Target="/ppt/media/image15.svg" Id="Re5ebeee691d443a7" /><Relationship Type="http://schemas.openxmlformats.org/officeDocument/2006/relationships/image" Target="/ppt/media/image16.png" Id="Rba772e03412d4bec" /><Relationship Type="http://schemas.openxmlformats.org/officeDocument/2006/relationships/image" Target="/ppt/media/image16.svg" Id="Rbc597ef0ae8346d2" /><Relationship Type="http://schemas.openxmlformats.org/officeDocument/2006/relationships/image" Target="/ppt/media/image17.png" Id="Rb43f8c921f574cf2" /><Relationship Type="http://schemas.openxmlformats.org/officeDocument/2006/relationships/image" Target="/ppt/media/image17.svg" Id="Ra4e414f3b29042cd" /><Relationship Type="http://schemas.openxmlformats.org/officeDocument/2006/relationships/image" Target="/ppt/media/image18.png" Id="R9e2d86e9b92b4482" /><Relationship Type="http://schemas.openxmlformats.org/officeDocument/2006/relationships/image" Target="/ppt/media/image18.svg" Id="R7181e1c36cad414e" /><Relationship Type="http://schemas.openxmlformats.org/officeDocument/2006/relationships/image" Target="/ppt/media/image19.png" Id="R0faceaab06384be3" /><Relationship Type="http://schemas.openxmlformats.org/officeDocument/2006/relationships/image" Target="/ppt/media/image19.svg" Id="R0a44e2b9f0a746e3" /><Relationship Type="http://schemas.openxmlformats.org/officeDocument/2006/relationships/image" Target="/ppt/media/image20.png" Id="R24c2b06799e64f48" /><Relationship Type="http://schemas.openxmlformats.org/officeDocument/2006/relationships/image" Target="/ppt/media/image20.svg" Id="R4ff1e0e985684fb1" /><Relationship Type="http://schemas.openxmlformats.org/officeDocument/2006/relationships/image" Target="/ppt/media/image21.png" Id="R8ff3cfd744254ef7" /><Relationship Type="http://schemas.openxmlformats.org/officeDocument/2006/relationships/image" Target="/ppt/media/image21.svg" Id="R3d30ad9f25f1458b" /><Relationship Type="http://schemas.openxmlformats.org/officeDocument/2006/relationships/notesSlide" Target="/ppt/notesSlides/notesSlide3.xml" Id="Rd18268a8d2204f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8aa05b0b645cb" /><Relationship Type="http://schemas.openxmlformats.org/officeDocument/2006/relationships/image" Target="/ppt/media/image22.png" Id="Rb13db47d18e843bd" /><Relationship Type="http://schemas.openxmlformats.org/officeDocument/2006/relationships/image" Target="/ppt/media/image22.svg" Id="R033cb3f37d8c43b6" /><Relationship Type="http://schemas.openxmlformats.org/officeDocument/2006/relationships/image" Target="/ppt/media/image23.png" Id="R22d6863e0fb24062" /><Relationship Type="http://schemas.openxmlformats.org/officeDocument/2006/relationships/image" Target="/ppt/media/image23.svg" Id="R84cee2f6e2124295" /><Relationship Type="http://schemas.openxmlformats.org/officeDocument/2006/relationships/image" Target="/ppt/media/image24.png" Id="R657fc640398c42d6" /><Relationship Type="http://schemas.openxmlformats.org/officeDocument/2006/relationships/image" Target="/ppt/media/image24.svg" Id="R544f9f60c5ea425a" /><Relationship Type="http://schemas.openxmlformats.org/officeDocument/2006/relationships/image" Target="/ppt/media/image25.png" Id="R9c5b2a4e7bde43e4" /><Relationship Type="http://schemas.openxmlformats.org/officeDocument/2006/relationships/image" Target="/ppt/media/image25.svg" Id="R5ddc8f53ac094bb9" /><Relationship Type="http://schemas.openxmlformats.org/officeDocument/2006/relationships/image" Target="/ppt/media/image26.png" Id="R3ed493cd2aaf4ba7" /><Relationship Type="http://schemas.openxmlformats.org/officeDocument/2006/relationships/image" Target="/ppt/media/image26.svg" Id="R416069247c1b4a88" /><Relationship Type="http://schemas.openxmlformats.org/officeDocument/2006/relationships/notesSlide" Target="/ppt/notesSlides/notesSlide4.xml" Id="R5e193bb35e914e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ec09ec85547a1" /><Relationship Type="http://schemas.openxmlformats.org/officeDocument/2006/relationships/image" Target="/ppt/media/image27.png" Id="R0521ac48a6324029" /><Relationship Type="http://schemas.openxmlformats.org/officeDocument/2006/relationships/image" Target="/ppt/media/image27.svg" Id="Rc3573c6bc14346d8" /><Relationship Type="http://schemas.openxmlformats.org/officeDocument/2006/relationships/image" Target="/ppt/media/image28.png" Id="R2cdc073a551349af" /><Relationship Type="http://schemas.openxmlformats.org/officeDocument/2006/relationships/image" Target="/ppt/media/image28.svg" Id="R5a67479d36ab4754" /><Relationship Type="http://schemas.openxmlformats.org/officeDocument/2006/relationships/image" Target="/ppt/media/image29.png" Id="Raa487a7bc159470a" /><Relationship Type="http://schemas.openxmlformats.org/officeDocument/2006/relationships/image" Target="/ppt/media/image29.svg" Id="Rce02f5e74a3c4f86" /><Relationship Type="http://schemas.openxmlformats.org/officeDocument/2006/relationships/image" Target="/ppt/media/image30.png" Id="R4222a2381a124e63" /><Relationship Type="http://schemas.openxmlformats.org/officeDocument/2006/relationships/image" Target="/ppt/media/image30.svg" Id="R711d34e44c1c4b59" /><Relationship Type="http://schemas.openxmlformats.org/officeDocument/2006/relationships/image" Target="/ppt/media/image31.png" Id="Rd819d8b3a9a54050" /><Relationship Type="http://schemas.openxmlformats.org/officeDocument/2006/relationships/image" Target="/ppt/media/image31.svg" Id="R7ae1a5d448844768" /><Relationship Type="http://schemas.openxmlformats.org/officeDocument/2006/relationships/image" Target="/ppt/media/image32.png" Id="R4472b96c10fa491c" /><Relationship Type="http://schemas.openxmlformats.org/officeDocument/2006/relationships/image" Target="/ppt/media/image32.svg" Id="R1711a75b42da44bf" /><Relationship Type="http://schemas.openxmlformats.org/officeDocument/2006/relationships/image" Target="/ppt/media/image33.png" Id="R67945176975f4148" /><Relationship Type="http://schemas.openxmlformats.org/officeDocument/2006/relationships/image" Target="/ppt/media/image33.svg" Id="Ra29dca81b91a4e72" /><Relationship Type="http://schemas.openxmlformats.org/officeDocument/2006/relationships/image" Target="/ppt/media/image34.png" Id="Rc5d4ce7153ba4d7e" /><Relationship Type="http://schemas.openxmlformats.org/officeDocument/2006/relationships/image" Target="/ppt/media/image34.svg" Id="R3470e21b40104415" /><Relationship Type="http://schemas.openxmlformats.org/officeDocument/2006/relationships/notesSlide" Target="/ppt/notesSlides/notesSlide5.xml" Id="Rfc468632ed2a41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1a95c28664083" /><Relationship Type="http://schemas.openxmlformats.org/officeDocument/2006/relationships/notesSlide" Target="/ppt/notesSlides/notesSlide6.xml" Id="R3e358d71d2524d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e6448294c4669" /><Relationship Type="http://schemas.openxmlformats.org/officeDocument/2006/relationships/notesSlide" Target="/ppt/notesSlides/notesSlide7.xml" Id="R70b0d69573f24af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2F652F-03E3-4562-804E-9F8F3069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A3D35A42-E00F-4711-BDAB-A91D814F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B1608749-D285-4078-8F53-7C6C22D7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SUNSU CARE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ECCA5-9D47-4A43-B8E6-07996F62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D89B6-B9EE-436A-BB51-85215BC1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F066B-277A-48AA-A140-DBF6FC1F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628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수업 웹 아키텍처를</a:t>
            </a:r>
          </a:p>
          <a:p xmlns:a="http://schemas.openxmlformats.org/drawingml/2006/main">
            <a:pPr algn="l">
              <a:defRPr sz="30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AI 선케어 분석 플랫폼으로 확장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88C44-D92B-4A72-8EF4-AF4B82E9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14550"/>
            <a:ext cx="619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React + Node 기본 구조에 FastAPI AI 분석 서버, Object Storage, Cloud DB, 외부 OCR/LLM API, 운영 관측성을 추가한 클라우드 설계안입니다.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801689-B991-4A5F-BFB9-8CA9A1F5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38100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9EF4F-2A1D-45A2-B96C-15F50E6C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4297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핵심 설계 방향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7FEDF2-34F6-4E4C-8E86-8E050035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287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63560-2A13-4583-B2A0-B45A2625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362075"/>
            <a:ext cx="304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Load Balancer만 Public, API/AI/DB는 Private Subnet에 배치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D9936E-F89D-44B6-8D4E-5F0169A2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BFC48-CC81-4180-B7EF-8595153A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85950"/>
            <a:ext cx="304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이미지 분석은 업로드 수락과 AI 완료를 분리한 비동기 흐름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72F0AB-6709-4A03-89D2-3A4ED437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DDEF9-1F5C-4E85-9B77-31CBF5A0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409825"/>
            <a:ext cx="304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OCR/Gemini 호출은 NAT Gateway와 내부 토큰으로 통제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867DBE-ADFD-4302-8DDA-6A7CEC13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1981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3D022-4AD8-41D0-AB31-486B6EE2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e4832181a4680">
            <a:extLst>
              <a:ext uri="{96DAC541-7B7A-43D3-8B79-37D633B846F1}">
                <asvg:svgBlip xmlns:asvg="http://schemas.microsoft.com/office/drawing/2016/SVG/main" r:embed="R9e313ae7671348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7750" y="4019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D4942-C0A1-4820-A125-8D54DB61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909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React SPA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423B37-C50A-4E34-BDF6-81199516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48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Vite build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Object Storage + CDN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2BAF0-3C9D-4974-888F-EFA075D3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48100"/>
            <a:ext cx="1981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D70DC-0C55-43D4-8E21-09E4B183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481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46de89a6147ee">
            <a:extLst>
              <a:ext uri="{96DAC541-7B7A-43D3-8B79-37D633B846F1}">
                <asvg:svgBlip xmlns:asvg="http://schemas.microsoft.com/office/drawing/2016/SVG/main" r:embed="Rc38eb877c6494c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67150" y="4019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07A7CA-6DDC-4F7C-B6DC-8FD531EB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909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Express API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905C00-81CB-4190-9F04-D0C4E4A5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48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Auth / Upload / Callback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Recommendation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B0D8E7-F547-4E0B-9DB6-CEEAE16A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48100"/>
            <a:ext cx="1981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CB35ED-AF59-443A-AAD9-67CE5D54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481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ab9098e7724bc5">
            <a:extLst>
              <a:ext uri="{96DAC541-7B7A-43D3-8B79-37D633B846F1}">
                <asvg:svgBlip xmlns:asvg="http://schemas.microsoft.com/office/drawing/2016/SVG/main" r:embed="R4803649a4ee841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86550" y="4019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7AAEDC-7542-4276-A019-C52CA6AC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9909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FastAPI AI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EFDFC7-2C96-466E-8B2D-A20DB9CD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48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YOLOv8 + OCR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Ingredient matcher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0125BD-5587-4052-828A-F900C4A1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1981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530935-DBDF-4514-914E-D8748A4E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8ab61f8ae495d">
            <a:extLst>
              <a:ext uri="{96DAC541-7B7A-43D3-8B79-37D633B846F1}">
                <asvg:svgBlip xmlns:asvg="http://schemas.microsoft.com/office/drawing/2016/SVG/main" r:embed="R348314deaf2247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05950" y="4019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ED5683-BD4F-484D-813A-49D054F5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909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Data Plane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106D4F-B615-4E2A-9E2C-33CDA7E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248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Cloud DB MySQL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Object Storage / Logs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2C4CAA-68C2-4AB9-BC33-464FC592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6CB650-3AE8-494B-B69A-D75B9A56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814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ED754C-247A-4D21-BBB0-8D3BC247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426" y="4048125"/>
            <a:ext cx="53644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API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96EB4E-0F99-429A-BE14-74FBA55D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28625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8C4CF-DF2E-4AF4-9E66-5FB854A9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814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FBD95F-5F6D-4DC1-BEA0-C17F7EAA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6826" y="4048125"/>
            <a:ext cx="53644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internal request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910D44-7791-4CDE-A942-1B6DCC71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8625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9DB358-9D1E-4A77-801C-FE59F895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814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F4AF6E-AEA2-4580-A4CE-956D0555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6226" y="4048125"/>
            <a:ext cx="53644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result / storage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5ADDB5-ACDD-42EA-B0B6-056BE4EB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76900"/>
            <a:ext cx="1009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수업 예시의 VPC/Subnet/Load Balancer 구조는 유지하고, Sunsu Care의 AI 분석·저장·운영 요소를 실제 배포 단위로 추가합니다.</a:t>
            </a:r>
          </a:p>
        </p:txBody>
      </p:sp>
    </p:spTree>
    <p:extLst>
      <p:ext uri="{BB962C8B-B14F-4D97-AF65-F5344CB8AC3E}">
        <p14:creationId xmlns:p14="http://schemas.microsoft.com/office/powerpoint/2010/main" val="11085447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E8B2EB-44F1-467F-B61E-493A7085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7729F543-8E7C-46F5-BEB4-965E3F63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02F38417-8DBD-415A-813F-D5AA6A7E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CLASSROOM MODEL TO SUNSU CARE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24965-779A-499A-943D-79B6A56D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기본 React+Node 구조에 AI 분석 전용 경로를 추가합니다.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941C2-9499-4F99-ACC2-621164A5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수업시간 웹 서비스 아키텍처는 좋은 출발점입니다. Sunsu Care는 이미지 분석과 추천 이유 생성을 위한 별도 서비스 경계가 필요합니다.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2CB88-E21E-4144-BF2C-2B6B1B00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900B4-2689-4FEE-B4E8-7BA86F87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084A39-45E9-4C0A-A9B5-AF0DF729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4953000" cy="392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C0843-CD03-446F-919C-ECA31308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수업 예시 구조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1390A-2C4E-4EAF-BAD2-09ADEAFF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62175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3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React + Node 웹 서버 중심의 단순 요청/응답 구조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086022-D49A-4FBB-97F3-0FAF97FE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956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528595-04AD-4461-BAB9-91FC4872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95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377731b5d40e8">
            <a:extLst>
              <a:ext uri="{96DAC541-7B7A-43D3-8B79-37D633B846F1}">
                <asvg:svgBlip xmlns:asvg="http://schemas.microsoft.com/office/drawing/2016/SVG/main" r:embed="R3a5d205fa2c541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00150" y="30670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D7DD2-E6CA-4CC1-B7E5-2FF26C60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38475"/>
            <a:ext cx="80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CA856-43D7-4C30-A2D3-9BE06827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95650"/>
            <a:ext cx="80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Browser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CE04B6-7B5C-42A7-A987-DA3882B9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956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E1F64-3879-4DB7-BE7B-3FA027A5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95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f9f00e43a43fb">
            <a:extLst>
              <a:ext uri="{96DAC541-7B7A-43D3-8B79-37D633B846F1}">
                <asvg:svgBlip xmlns:asvg="http://schemas.microsoft.com/office/drawing/2016/SVG/main" r:embed="Rc1c02a831e2149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30670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F5FE34-C80A-48DF-B527-D22C331A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38475"/>
            <a:ext cx="80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Load Balancer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6F8D59-0A4A-44BA-9DB7-EFDC316E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95650"/>
            <a:ext cx="80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Public entry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00C21-CE8D-4F16-AF0A-D76C3F0D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29100"/>
            <a:ext cx="1619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12334A-61F0-4553-AB4D-F448E2FC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291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3776dd8ca4e59">
            <a:extLst>
              <a:ext uri="{96DAC541-7B7A-43D3-8B79-37D633B846F1}">
                <asvg:svgBlip xmlns:asvg="http://schemas.microsoft.com/office/drawing/2016/SVG/main" r:embed="Rea74f9b394ef46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247900" y="44005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43920D-AFCA-4B89-9E0F-0229614D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7197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Web Servers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313234-0DF6-4100-857E-9CA5D2E2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6291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Docker / Node.js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46717A-1F36-4ECD-BBB1-6689FA53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385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7D8E08-2F4F-42AD-9CEF-78B48698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337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A8253-C39A-4F7A-8D50-86FAE252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581400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11D79B-5A60-428E-A170-65BC4B59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1529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F90796-7DF9-432F-9192-54C72389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788664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Get/Post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BB23BC-C33D-4EE6-A0C7-168E1A3D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863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745347-5F47-4D50-AEC9-C5DD2CF0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1970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요청 흐름은 단순하지만 AI 작업 대기, 콜백, 외부 API 통제가 표현되지 않음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53A57C-30E2-4828-B65B-87D28688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600200"/>
            <a:ext cx="4953000" cy="392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ED0C50-9618-4D5F-B26F-7DC6141A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669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Sunsu Care 확장 구조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42A530-6587-4ABF-B19A-15644F23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62175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3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API 서버와 AI 서버를 분리하고, 결과 저장과 추천 생성까지 연결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6D5AD0-7C37-4F5A-B5AA-E9B2EBE9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95600"/>
            <a:ext cx="1257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634848-AA62-405D-AAA1-8BA0B8DF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95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16dc7e86e41f9">
            <a:extLst>
              <a:ext uri="{96DAC541-7B7A-43D3-8B79-37D633B846F1}">
                <asvg:svgBlip xmlns:asvg="http://schemas.microsoft.com/office/drawing/2016/SVG/main" r:embed="Reed84d0c840b45d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124700" y="30670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D6956F-3339-4E73-BAF6-5005C13B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38475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React SPA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B15800-9E38-4437-90E3-1FAA450C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956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Object Storage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CDN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E3A76A-4B88-40E6-9E3C-D404EDD9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95600"/>
            <a:ext cx="1257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FAC561-A632-4EF5-A270-6A664B7E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95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4345abf2ca4174">
            <a:extLst>
              <a:ext uri="{96DAC541-7B7A-43D3-8B79-37D633B846F1}">
                <asvg:svgBlip xmlns:asvg="http://schemas.microsoft.com/office/drawing/2016/SVG/main" r:embed="R0d0b07cc524d4b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15400" y="30670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7F59B1-0764-4A40-B04B-08696260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38475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Express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EB90B7-B851-460F-A4CC-C879DC91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956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Auth / Upload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Polling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033258-9AA2-4A88-A05F-4FD92501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1257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4E6E1C-58A1-455F-A82F-A2B5BCE7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221775bf5430a">
            <a:extLst>
              <a:ext uri="{96DAC541-7B7A-43D3-8B79-37D633B846F1}">
                <asvg:svgBlip xmlns:asvg="http://schemas.microsoft.com/office/drawing/2016/SVG/main" r:embed="R789c1e46c26347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15400" y="43815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7D4997-A7B3-4739-999F-F7AB0FC9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52925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FastAPI AI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AAAD22-2926-4921-8AC6-9CB6ADB6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61010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YOLOv8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CLOVA OCR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AE96DD-FC46-4FBA-AA7F-9B32F118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62350"/>
            <a:ext cx="1066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433C5D-2CB4-43EE-B0BC-FA83E716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623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a345630cc4403">
            <a:extLst>
              <a:ext uri="{96DAC541-7B7A-43D3-8B79-37D633B846F1}">
                <asvg:svgBlip xmlns:asvg="http://schemas.microsoft.com/office/drawing/2016/SVG/main" r:embed="R76d03258e02440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39400" y="37338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95174F2-95B1-4968-AFFE-4270F8E6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70522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MySQL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0FA1BED-9CD3-4EDF-8A43-376C08EF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9624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Analysis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Profile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ECDE9D5-5E4E-436B-8E07-A23832B5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3850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F79A446-FDF3-458C-A058-7EBBF5A3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337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9DF998-5828-4BA1-97E2-1BA6BA2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612" y="3000375"/>
            <a:ext cx="341376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API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F36BD2-F2BC-4C99-BD56-E7E7153A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8140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6ACCB36-7983-439D-A42E-079D1AA4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133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76574B-3186-4413-802E-BAC6A945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82568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Analyze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5B06DBE-3C03-494D-B6AA-670D093D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905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7B1EAF6-725C-45B2-83D8-0A8114F2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8004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D9D3FF-0954-4B9F-98BF-E915B46A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8306" y="3667125"/>
            <a:ext cx="17068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Save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29B7082-E18D-449F-9C72-C957AEC8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863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4AE668A-EB0D-4077-8AEA-00373B63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1970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이미지 업로드, AI 분석, 콜백 저장, Gemini 추천 이유 생성을 별도 경로로 구분</a:t>
            </a:r>
          </a:p>
        </p:txBody>
      </p:sp>
    </p:spTree>
    <p:extLst>
      <p:ext uri="{BB962C8B-B14F-4D97-AF65-F5344CB8AC3E}">
        <p14:creationId xmlns:p14="http://schemas.microsoft.com/office/powerpoint/2010/main" val="4630868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605909-E223-4ED1-BFBB-25E5F1FF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1846386-4B33-446F-A4AB-F42EE9AA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3D94AE1D-850D-41AE-BAF1-9AF151D0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TARGET CLOUD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E88A7-0C80-459B-B1A3-FEF29A32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Public 진입점은 작게, API·AI·데이터 계층은 Private으로 둡니다.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0A84B-1C55-4E1E-B725-90B1913D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Naver Cloud 기준으로 표현한 권장 배포 구조입니다. MVP는 Docker Server로 시작하고, 트래픽 증가 시 NKS로 이전할 수 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97951-15FD-45C5-91DB-E1D957EC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A65D6-AEE4-4281-BC37-057EBC76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87096-8D86-4066-8FB8-046C5EFC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43050"/>
            <a:ext cx="933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Users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35595-BD5B-4465-B06B-2268C058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66900"/>
            <a:ext cx="1162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BEB91-4891-4496-BA59-6AD1AC9D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669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50e6b379b4f63">
            <a:extLst>
              <a:ext uri="{96DAC541-7B7A-43D3-8B79-37D633B846F1}">
                <asvg:svgBlip xmlns:asvg="http://schemas.microsoft.com/office/drawing/2016/SVG/main" r:embed="Rf98ba317affb4e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28650" y="20383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61C22-5681-4A40-A5EB-4B9AD6DF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9775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Mobile Web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1FEEA-70A4-4472-93CA-FF658A87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React SPA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09587-05B4-4D8F-9F04-1B4D004E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162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F3C7F-17ED-4115-9EAA-DD903CDF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A3623-4617-45C3-B782-2CA6779C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743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D64EE8-309E-46AB-9AEA-2DED59AE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90875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GitHub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DEFC88-325A-45D0-80CE-32197FDB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53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Actions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CI/CD</a:t>
            </a:r>
          </a:p>
        </p:txBody>
      </p:sp>
      <p:sp>
        <p:nvSpPr>
          <p:cNvPr id="19" name="vpc-boundary">
            <a:extLst xmlns:a="http://schemas.openxmlformats.org/drawingml/2006/main">
              <a:ext uri="{FF2B5EF4-FFF2-40B4-BE49-F238E27FC236}">
                <a16:creationId xmlns:a16="http://schemas.microsoft.com/office/drawing/2014/main" id="{90AAC9A3-27D5-4355-9DE5-A89ACD0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09700"/>
            <a:ext cx="689610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0"/>
            </a:srgbClr>
          </a:solidFill>
          <a:ln xmlns:a="http://schemas.openxmlformats.org/drawingml/2006/main" w="19050">
            <a:solidFill>
              <a:srgbClr val="16A3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2B28DB-65A2-42A4-962E-2BD9F2C2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430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VPC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8D90F7-B488-41C3-9279-9AE202E6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66900"/>
            <a:ext cx="18097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CFE"/>
          </a:solidFill>
          <a:ln xmlns:a="http://schemas.openxmlformats.org/drawingml/2006/main" w="9525">
            <a:solidFill>
              <a:srgbClr val="B7E3F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3192E5-5746-4B16-B7BF-4D6FC8BC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9812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Public Subnet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425EC-EBC1-4846-9F8B-164403AF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35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EE7112-22AC-4E0E-B8A4-5D6B5125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116895a3641eb">
            <a:extLst>
              <a:ext uri="{96DAC541-7B7A-43D3-8B79-37D633B846F1}">
                <asvg:svgBlip xmlns:asvg="http://schemas.microsoft.com/office/drawing/2016/SVG/main" r:embed="R7a8e1836a9ef4d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86050" y="25336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A38906-0DE9-45FE-8C72-13DD3FBA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05075"/>
            <a:ext cx="723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Load Balancer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2ED500-1D2A-4840-8C06-12BE576E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723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HTTPS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/api routing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D46FBD-A4FA-4801-978F-2D68F152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676650"/>
            <a:ext cx="135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C029B6-B1DA-4BA4-AC7C-A90BC705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6766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fc50783434424">
            <a:extLst>
              <a:ext uri="{96DAC541-7B7A-43D3-8B79-37D633B846F1}">
                <asvg:svgBlip xmlns:asvg="http://schemas.microsoft.com/office/drawing/2016/SVG/main" r:embed="R2b81519d478847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86050" y="38481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6E7505-E6C9-4437-9F91-334BD431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19525"/>
            <a:ext cx="723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NAT Gateway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B746BC-3666-4CF6-AE1A-C64E5C67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76700"/>
            <a:ext cx="723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Private egress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OCR / LLM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EC51B0-8621-4860-9403-865D74F5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66900"/>
            <a:ext cx="20764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EFB"/>
          </a:solidFill>
          <a:ln xmlns:a="http://schemas.openxmlformats.org/drawingml/2006/main" w="9525">
            <a:solidFill>
              <a:srgbClr val="BEEB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32A074-8AE2-4030-BB2C-EA295AB1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812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CB67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CB67D"/>
                </a:solidFill>
                <a:latin typeface="Arial"/>
                <a:ea typeface="Arial"/>
                <a:cs typeface="Arial"/>
              </a:rPr>
              <a:t>Private App Subnet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F566AB-CE93-43A7-B94B-FFE56DE1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622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CB49DC-9FE3-4A37-9B03-DC5AAD03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622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24b70ad60470c">
            <a:extLst>
              <a:ext uri="{96DAC541-7B7A-43D3-8B79-37D633B846F1}">
                <asvg:svgBlip xmlns:asvg="http://schemas.microsoft.com/office/drawing/2016/SVG/main" r:embed="Re5ebeee691d443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19650" y="25336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978A7A-2963-420C-96A6-F5041975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050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Express API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3AABF0-FDF3-4908-8F57-DF609FA1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6225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auth / profile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upload / callback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884F0B-2FB2-4C65-B066-62450634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3380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EE37F7-2C5D-4163-81F6-B9CDD179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338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72e03412d4bec">
            <a:extLst>
              <a:ext uri="{96DAC541-7B7A-43D3-8B79-37D633B846F1}">
                <asvg:svgBlip xmlns:asvg="http://schemas.microsoft.com/office/drawing/2016/SVG/main" r:embed="Rbc597ef0ae8346d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19650" y="39052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6D5947-548E-46B4-8886-9BAE08A6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766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Container Runtime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0B7C23E-78BD-4F43-993B-5C40E981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3385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Docker Server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or NKS service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EADE82-9425-4EB0-BCEE-95C5DC9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66900"/>
            <a:ext cx="1885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5"/>
          </a:solidFill>
          <a:ln xmlns:a="http://schemas.openxmlformats.org/drawingml/2006/main" w="9525">
            <a:solidFill>
              <a:srgbClr val="F8D99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BE70AC-FFB6-4492-ADC1-5D8F718B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Private AI Subnet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B334F0-4F7F-45E9-B093-09D3DEFF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62200"/>
            <a:ext cx="1352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A49340-2475-4ADE-A241-F0E3BBB3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622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f8c921f574cf2">
            <a:extLst>
              <a:ext uri="{96DAC541-7B7A-43D3-8B79-37D633B846F1}">
                <asvg:svgBlip xmlns:asvg="http://schemas.microsoft.com/office/drawing/2016/SVG/main" r:embed="Ra4e414f3b29042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181850" y="25336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66362E-DC9C-450A-A4A4-4CD56457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05075"/>
            <a:ext cx="723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FastAPI AI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27B1BD-BAC1-440D-A576-05295855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622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YOLOv8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Ingredient matcher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E59175B-FC52-4064-9615-5396DCC5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733800"/>
            <a:ext cx="1352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9B6099F-6190-4470-88C3-1D8D6811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7338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d86e9b92b4482">
            <a:extLst>
              <a:ext uri="{96DAC541-7B7A-43D3-8B79-37D633B846F1}">
                <asvg:svgBlip xmlns:asvg="http://schemas.microsoft.com/office/drawing/2016/SVG/main" r:embed="R7181e1c36cad41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181850" y="39052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BC8762-DB51-4885-BF37-765CAC8D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76675"/>
            <a:ext cx="723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Model Files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1BB37D-DA58-44E6-8716-2AD25560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best.pt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seed data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7D62958-8D22-4B25-8495-2E72C291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66900"/>
            <a:ext cx="2266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3D49C0-D79A-4C0A-BD58-2115D986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Managed Data / External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4E68C0-7F5C-4AE1-9857-3B568A36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619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298646-5129-46AB-9135-A249EDB7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ceaab06384be3">
            <a:extLst>
              <a:ext uri="{96DAC541-7B7A-43D3-8B79-37D633B846F1}">
                <asvg:svgBlip xmlns:asvg="http://schemas.microsoft.com/office/drawing/2016/SVG/main" r:embed="R0a44e2b9f0a746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58350" y="26289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06B9CD-4A81-43FF-B13E-120BBE26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0032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Object Storage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F83825-D187-4F54-A33B-50F1C985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scan images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product images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AA155B-808C-44FA-B069-D6BED25D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33750"/>
            <a:ext cx="1619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60E9493-0336-4B4E-A92A-EF726A2D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337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2b06799e64f48">
            <a:extLst>
              <a:ext uri="{96DAC541-7B7A-43D3-8B79-37D633B846F1}">
                <asvg:svgBlip xmlns:asvg="http://schemas.microsoft.com/office/drawing/2016/SVG/main" r:embed="R4ff1e0e985684f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58350" y="35052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A463175-B633-4465-8B1C-DE744350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7662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Cloud DB MySQL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50F44C5-7F9A-404B-98F9-F29CACED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338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profile / analysis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product catalog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0B2D0B3-0946-46BA-8EE3-C37570A6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10050"/>
            <a:ext cx="1619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7BA5163-1CF3-462B-9B76-4CA4E7B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100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3cfd744254ef7">
            <a:extLst>
              <a:ext uri="{96DAC541-7B7A-43D3-8B79-37D633B846F1}">
                <asvg:svgBlip xmlns:asvg="http://schemas.microsoft.com/office/drawing/2016/SVG/main" r:embed="R3d30ad9f25f145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58350" y="43815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FD0356A-BDA8-464C-B304-9BE5CFA6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5292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CLOVA / Gemini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E37C0DB-232A-4916-83E7-CC04B616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101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OCR + reason text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via NAT egress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5EC4874-A52D-43ED-8E89-04769BE5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24150"/>
            <a:ext cx="895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7C0344-1D85-4F14-B1BB-20142C12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193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EFC3160-9169-4145-B58A-022C4843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463" y="2486025"/>
            <a:ext cx="573024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HTTPS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97F055E-A3E7-43D4-80C0-BB91E3E0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241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C76AC6E-B86E-4C47-AAB5-C72D7CBA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193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06D19CF-3A2E-4D0F-BE62-87E67499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6789" y="2486025"/>
            <a:ext cx="4998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REST /api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822A3BE-2D69-4347-8FDD-0030E69B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4320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99CB57E-2E73-4E0F-8C43-B82D7074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384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81B219B-91E7-4B10-932D-E32CB1A0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747" y="2505075"/>
            <a:ext cx="524256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internal token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89A2BB9-565A-4DE6-9AB2-86D7C451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432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A4C4DD0-7B1D-4734-A24A-3D3FBEA1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384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538B1C6-7A99-4001-9E28-3CCCD715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4311" y="2505075"/>
            <a:ext cx="7193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image/object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7AC804D-2682-4F4A-84FF-CD54C4F4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4325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C219AE2-97C5-4DDC-B9B0-BE7E493D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384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rPr>
              <a:t>&lt;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0A924DC-13D9-423C-9519-C9B9346E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747" y="2905125"/>
            <a:ext cx="524256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callback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2563F72-93E2-4A47-8D25-DE2470A0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9575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EAC327C-E527-4BC1-A84C-F27130E5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909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9B129F5-351D-44CF-8B90-394CE491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747" y="3857625"/>
            <a:ext cx="524256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model mount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CAB6296-1980-4D9F-97F9-24CFEAAB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576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F9E8AA0-2B81-4517-811E-5AE298E9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528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8FB6EF9-D060-4958-9AEB-0AEA9CF1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4311" y="3419475"/>
            <a:ext cx="7193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SQL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BA7D889-EE78-41EF-BA6E-4E74276E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3860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0D4AE78-5946-451E-9FB0-BD10F06A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338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767AACE-462E-4B5C-8977-E2FAA762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6789" y="3800475"/>
            <a:ext cx="4998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egress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2B7FF4E-275F-471C-BE65-2CE6FFD1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390900"/>
            <a:ext cx="1352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9C56290-968F-440B-8991-6352FE1A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861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&lt;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B1A08B4-02AA-49C2-9754-0912E113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7109" y="3152775"/>
            <a:ext cx="86563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NAT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5E35A9B-0D40-421A-9184-258A0AF5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086100"/>
            <a:ext cx="19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E0647C2-9D6E-400B-A429-1278EE03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600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A645BC1-43FC-46A6-B50C-D0A5D050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75076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external API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1ADADD2-B4A9-45A9-81D7-27019A66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09950"/>
            <a:ext cx="302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0EE1F90-90E6-4DC8-B7C5-8646E494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0517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E50EB51-A749-4111-B9A1-DFD45F0B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511" y="3171825"/>
            <a:ext cx="19385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deploy / image pull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8C63F5F-D5E0-4898-B8D7-4B47313F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19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AFC121F-1AC7-4B66-B8D1-9833CE55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19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16181345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80758C-ED96-4FC4-9115-1BD3BAF6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C7D3E9FF-0004-4830-B8C0-A18EB166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6EECAC71-2C29-4927-80F6-639C6C9F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ASYNC ANALYSIS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98FD8-6DCE-4917-A205-FF8F8AC6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업로드 응답과 AI 완료를 분리해야 사용자가 기다리지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AFA1A-0C65-47D7-8EE4-0947C941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현재 코드의 Express -&gt; FastAPI 요청, task 조회, callback 저장 구조를 클라우드 운영 흐름으로 정리했습니다.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9933E7-61FE-4664-8EF5-4D3325DB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F8F7D-8DB1-46BD-91E7-4F31254B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1C8A1-DFDB-4345-8E58-290EF4B9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8875"/>
            <a:ext cx="1428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05406-38D9-490C-8FA5-892F46DC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8875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db47d18e843bd">
            <a:extLst>
              <a:ext uri="{96DAC541-7B7A-43D3-8B79-37D633B846F1}">
                <asvg:svgBlip xmlns:asvg="http://schemas.microsoft.com/office/drawing/2016/SVG/main" r:embed="R033cb3f37d8c43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1050" y="26003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B21FF-C260-4FBD-87FA-EEF1C7F2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71750"/>
            <a:ext cx="80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User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8E55CB-CDA5-4090-B886-62997FA8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28925"/>
            <a:ext cx="800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제품 성분표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이미지 업로드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39527-5F04-4319-9499-C7D58C52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28875"/>
            <a:ext cx="1485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05ED4F-18A0-486C-8728-AD722DFC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28875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6863e0fb24062">
            <a:extLst>
              <a:ext uri="{96DAC541-7B7A-43D3-8B79-37D633B846F1}">
                <asvg:svgBlip xmlns:asvg="http://schemas.microsoft.com/office/drawing/2016/SVG/main" r:embed="R84cee2f6e21242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857500" y="26003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0AB86B-3510-4F41-81D7-89F687E9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7175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Express 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9359FA-6C8B-48E1-A814-AC83653C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28925"/>
            <a:ext cx="857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JWT 확인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tb_upload 저장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87A9D3-F5F6-4F57-B0CB-FCDE2778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28875"/>
            <a:ext cx="1485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1E501-215A-4979-B6BC-45D951D2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28875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fc640398c42d6">
            <a:extLst>
              <a:ext uri="{96DAC541-7B7A-43D3-8B79-37D633B846F1}">
                <asvg:svgBlip xmlns:asvg="http://schemas.microsoft.com/office/drawing/2016/SVG/main" r:embed="R544f9f60c5ea42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91100" y="26003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431B4-4699-43BE-B8C7-BC5A13C1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175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FastAPI AI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AB98B6-85A7-4E82-A858-672ECA91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828925"/>
            <a:ext cx="857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task_id 발급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백그라운드 실행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5B8D9C-C260-4722-919F-C87BBDC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28875"/>
            <a:ext cx="1485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CBFBF-76CE-430B-88C0-65E9DBAE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28875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b2a4e7bde43e4">
            <a:extLst>
              <a:ext uri="{96DAC541-7B7A-43D3-8B79-37D633B846F1}">
                <asvg:svgBlip xmlns:asvg="http://schemas.microsoft.com/office/drawing/2016/SVG/main" r:embed="R5ddc8f53ac094b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124700" y="26003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402153-31D5-4AC7-A164-766AFEAA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7175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OCR / YOLO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CD6F3E-9B9E-4E56-B25E-1824BC78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28925"/>
            <a:ext cx="857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CLOVA OCR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YOLOv8 detection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A1B7F3-5B1C-4E6D-B0F8-FCA2DF94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28875"/>
            <a:ext cx="1485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782339-CB82-4F5F-826A-6026FFE5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28875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493cd2aaf4ba7">
            <a:extLst>
              <a:ext uri="{96DAC541-7B7A-43D3-8B79-37D633B846F1}">
                <asvg:svgBlip xmlns:asvg="http://schemas.microsoft.com/office/drawing/2016/SVG/main" r:embed="R416069247c1b4a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258300" y="26003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D888DB-DAFC-4921-9481-C7E0CC76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MySQL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8BA46B-0F87-4E1B-858B-8473D76B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28925"/>
            <a:ext cx="857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analysis_log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analysis result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EA6367-40DD-473B-B924-88B84389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847975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66BBBB-CA54-47E7-9E5A-0489FDD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43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157BA7-D0AB-4B05-ACB5-C7D817B7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3986" y="2609850"/>
            <a:ext cx="4145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1. POST /upload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DFD079-2F09-4334-88A3-8D05390F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47975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156996-9468-40DB-9F0C-DEDF8C77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3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CB67D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6A6631-215C-46B5-9554-D2303814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586" y="2609850"/>
            <a:ext cx="4145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2. POST analyze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74EE0F-A346-4796-B9BF-7ED8E3AF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47975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3840B2-E0ED-408B-A9B6-C243B049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43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478AC0-1D12-4D69-907B-563FD7DB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186" y="2609850"/>
            <a:ext cx="4145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3. parallel OCR/YOLO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80B166-9E5F-47E1-A898-25FA17D8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47975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64B4B6-1476-40AE-AAB3-0A2089F8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43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3CD290F-6C0F-4E89-9F03-122F23B6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4786" y="2609850"/>
            <a:ext cx="4145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5. save result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C19B55-6067-4B01-BFA1-BC008314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859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7C3E604-5E6E-4223-8065-07BD2E5B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95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FCF4C67-A75A-4CF4-94E5-01FED405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859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906586-4A9B-4BBF-B538-05249C26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715B4B2-2406-4711-8D0A-364EB61C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859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202181-C32B-40D0-85FD-132549A2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95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516EC3-9C8F-4B87-80CB-A8AC3CAC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0859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91F6E2-0DB5-4778-9F44-6A061EC2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095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8EFB175-E604-4275-92B8-62F68BF5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859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E54777-A4DF-4AC7-8158-4C248EEE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954CB9-F915-4E29-AE6D-0B1A60EE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14800"/>
            <a:ext cx="9029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6667"/>
            </a:srgbClr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34F6338-A373-407D-9781-E2FA3C01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33875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사용자 체감 흐름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092E4A-06B5-4ED6-8F9F-5A9EF137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648200"/>
            <a:ext cx="3314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Express는 202 Accepted와 task_id를 빠르게 반환하고, 화면은 /tasks/:taskId를 폴링합니다.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BDF191-F052-49C2-85A6-ED354EDF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33875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서버 완료 흐름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BD1BB9-9978-4A36-9233-BB172B8E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482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FastAPI 완료 후 Express callback으로 결과를 보내고, Express가 점수 계산과 MySQL 저장을 담당합니다.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ADCD07-8DE5-4B37-BDDD-3FD1400A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105400"/>
            <a:ext cx="2133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BFD7739-7BD4-48F0-A357-1767E8F2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0006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&lt;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748960C-CA35-4D03-AE37-2320ED8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5048" y="4867275"/>
            <a:ext cx="1365504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callback /api/suncare/callbacks/suncare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8B74897-5329-4226-9CAA-2D69E82D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160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51592F-C7D9-46DB-A3BD-28603EB7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006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&lt;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3C7ACC-6217-4225-97D7-C1CFE232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936" y="4867275"/>
            <a:ext cx="10241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polling result</a:t>
            </a:r>
          </a:p>
        </p:txBody>
      </p:sp>
    </p:spTree>
    <p:extLst>
      <p:ext uri="{BB962C8B-B14F-4D97-AF65-F5344CB8AC3E}">
        <p14:creationId xmlns:p14="http://schemas.microsoft.com/office/powerpoint/2010/main" val="9426495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B2CB73-1BDF-4EDB-BD7A-6C7B3925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A889412C-7DD7-4C4E-9FDE-44CF9DB0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80FC7CED-EDD5-43F9-A77B-76704007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SECURITY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15E8D-20F1-4515-BDD8-FF85F335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보안은 Public/Private 분리와 내부 토큰 검증을 함께 써야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BE395-474B-4942-8634-2E07EE19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현재 코드의 JWT 사용자 인증과 INTERNAL_TOKEN 서비스 인증을 클라우드 네트워크 경계에 맞게 배치합니다.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60899-8E55-4BA8-9F8E-8032216A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63429-97AE-4B2A-8D49-1F066049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EC0AF-5B23-4E9A-8F28-5F521670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23812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CFE"/>
          </a:solidFill>
          <a:ln xmlns:a="http://schemas.openxmlformats.org/drawingml/2006/main" w="9525">
            <a:solidFill>
              <a:srgbClr val="B7E3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3A9D7-C302-4BDC-984E-CD48D651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Public Zone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003E17-C802-41C6-80EC-E0A31AD6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1752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A422E-FB5A-4138-95CE-5DA41CE0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ac48a6324029">
            <a:extLst>
              <a:ext uri="{96DAC541-7B7A-43D3-8B79-37D633B846F1}">
                <asvg:svgBlip xmlns:asvg="http://schemas.microsoft.com/office/drawing/2016/SVG/main" r:embed="Rc3573c6bc14346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24193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7F4DE-204E-4E7D-A8EB-A16E7B6C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90775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HTTPS Entry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A1DFC-1DE4-4002-9913-8663D3B7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479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Load Balancer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TLS certificate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23573D-385D-425F-AFBA-DAE1E138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81400"/>
            <a:ext cx="1752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38001-EB40-4AC4-A87E-8FA7B637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814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c073a551349af">
            <a:extLst>
              <a:ext uri="{96DAC541-7B7A-43D3-8B79-37D633B846F1}">
                <asvg:svgBlip xmlns:asvg="http://schemas.microsoft.com/office/drawing/2016/SVG/main" r:embed="R5a67479d36ab47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37528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82957-6F65-447F-AA7F-DE768086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24275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Static Frontend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DB80D0-80FF-4CFC-9CDF-6FCA523F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814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Object Storage/CDN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no server secret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11863A-61DD-4247-9AE5-F4204618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657350"/>
            <a:ext cx="26670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EFB"/>
          </a:solidFill>
          <a:ln xmlns:a="http://schemas.openxmlformats.org/drawingml/2006/main" w="9525">
            <a:solidFill>
              <a:srgbClr val="BEEB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50C146-F9CC-4DD2-81F1-232C6737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71650"/>
            <a:ext cx="2400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CB67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CB67D"/>
                </a:solidFill>
                <a:latin typeface="Arial"/>
                <a:ea typeface="Arial"/>
                <a:cs typeface="Arial"/>
              </a:rPr>
              <a:t>Private Service Zone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AACC9C-6879-4FC0-8D99-940CFA16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47900"/>
            <a:ext cx="1981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F8756D-41A1-435D-9E60-BB024E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479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87a7bc159470a">
            <a:extLst>
              <a:ext uri="{96DAC541-7B7A-43D3-8B79-37D633B846F1}">
                <asvg:svgBlip xmlns:asvg="http://schemas.microsoft.com/office/drawing/2016/SVG/main" r:embed="Rce02f5e74a3c4f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52900" y="24193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DF41A4-B441-4850-8ED0-D2F26833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Express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D640AD-2833-474D-9A0B-91F79124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135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JWT auth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role/user ownership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846042-7C8F-4A6B-8924-DBB21998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81400"/>
            <a:ext cx="1981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A1B9C4-4825-4756-B4AD-26D9E613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814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2a2381a124e63">
            <a:extLst>
              <a:ext uri="{96DAC541-7B7A-43D3-8B79-37D633B846F1}">
                <asvg:svgBlip xmlns:asvg="http://schemas.microsoft.com/office/drawing/2016/SVG/main" r:embed="R711d34e44c1c4b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52900" y="37528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4990BA-8DC8-4D07-AB84-98736829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242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FastAPI AI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5351B4-7362-4AB8-B319-04C4F0FE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81450"/>
            <a:ext cx="135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Bearer INTERNAL_TOKEN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private endpoint 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68877A-8CEB-45DC-88D8-15FC6278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57350"/>
            <a:ext cx="2095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7718F9-5905-476F-A31F-AF2368A2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716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Data Zone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B9F35D-5F7A-4829-B631-E80B5CB1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4790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594254-3DD9-4A84-ACED-14CE3BF3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479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9d8b3a9a54050">
            <a:extLst>
              <a:ext uri="{96DAC541-7B7A-43D3-8B79-37D633B846F1}">
                <asvg:svgBlip xmlns:asvg="http://schemas.microsoft.com/office/drawing/2016/SVG/main" r:embed="R7ae1a5d4488447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24193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350EDC-AC07-48B0-8D49-E6B0C0FB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90775"/>
            <a:ext cx="933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Cloud DB MySQL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968A3E-5087-45BF-B76F-42D7A102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93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private access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backup policy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3029E0-5370-4423-A069-B3FA0BBD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8140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5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D1C47C-F476-4470-B21B-25FFED29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814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2b96c10fa491c">
            <a:extLst>
              <a:ext uri="{96DAC541-7B7A-43D3-8B79-37D633B846F1}">
                <asvg:svgBlip xmlns:asvg="http://schemas.microsoft.com/office/drawing/2016/SVG/main" r:embed="R1711a75b42da44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37528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F7BFFE-948A-4BBD-AE1D-5FCA1A12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24275"/>
            <a:ext cx="933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Object Storage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3CCD0A-DC8A-47C6-8280-A87B5330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81450"/>
            <a:ext cx="93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upload lifecycle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access policy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213220-097A-49FE-B9AB-4A54D7D2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657350"/>
            <a:ext cx="18478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5"/>
          </a:solidFill>
          <a:ln xmlns:a="http://schemas.openxmlformats.org/drawingml/2006/main" w="9525">
            <a:solidFill>
              <a:srgbClr val="F8D99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B84FC7-E4E5-4177-ACDB-C225DBC7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77165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External APIs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DB5179-72ED-4A84-9FD8-79C0BDB2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22F5305-65FD-4A35-84AF-2D36D3F6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45176975f4148">
            <a:extLst>
              <a:ext uri="{96DAC541-7B7A-43D3-8B79-37D633B846F1}">
                <asvg:svgBlip xmlns:asvg="http://schemas.microsoft.com/office/drawing/2016/SVG/main" r:embed="Ra29dca81b91a4e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982200" y="25717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1D39E2B-F872-4CFC-920D-920CCA12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5431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CLOVA OCR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0995D6-5A32-4C04-8C6E-3C04D9CE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800350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secret key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rate limit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9215001-5724-4B35-8BD6-8E48E160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957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55F125-576C-4BCC-92D8-92DE230B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95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4ce7153ba4d7e">
            <a:extLst>
              <a:ext uri="{96DAC541-7B7A-43D3-8B79-37D633B846F1}">
                <asvg:svgBlip xmlns:asvg="http://schemas.microsoft.com/office/drawing/2016/SVG/main" r:embed="R3470e21b401044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982200" y="386715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87D93E-CFE1-4612-BCC6-E6E81FCA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8385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Gemini API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C8F078-9566-429D-A6A0-E6CE014C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095750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88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file cache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F604DE-3DEF-40BA-9681-A16EA496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38425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67B0FA-D466-4382-81DA-EC3DCFEE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33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6A3D8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D2196B-8286-4D1F-A809-BCEF45B7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514" y="2400300"/>
            <a:ext cx="8046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JWT user session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83890FA-0A8C-421C-9EEC-7975E862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71925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71ABC73-AF82-4CF9-B3F1-E3C1904A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67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C949492-FF2F-42DD-B78A-3A32999F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727" y="3733800"/>
            <a:ext cx="768096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internal token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9E28D73-265D-47AF-ABFA-127B8EC1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38425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E869409-C6C0-4203-B63D-D7D1B25C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33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668155-FE47-408C-8AE2-B12011D2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727" y="2400300"/>
            <a:ext cx="768096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SQL private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BD29F3-A187-4601-B6D7-B90CBB12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71925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2FDC8AB-B531-4BA8-9860-356E99BA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67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A494B54-72C4-4961-B05D-E22B8AC1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03" y="3733800"/>
            <a:ext cx="694944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NAT egress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32F22A-5985-498F-AF55-377ADEB2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10200"/>
            <a:ext cx="10382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6BF6B78-4027-44FA-AD45-309EB3B7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673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108630E-4807-4927-B78A-94E310B9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007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프론트엔드에는 DB/API 키를 두지 않고, 민감 정보는 서버 환경변수 또는 Secret Manager로 분리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88FE197-CD8A-4940-81D8-63B64371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6673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DA6E80-E210-4DC0-8F5D-46037CA0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0070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FastAPI 직접 공개 금지: Express만 내부 토큰으로 호출하고, 외부 OCR/LLM은 NAT를 통해 통제</a:t>
            </a:r>
          </a:p>
        </p:txBody>
      </p:sp>
    </p:spTree>
    <p:extLst>
      <p:ext uri="{BB962C8B-B14F-4D97-AF65-F5344CB8AC3E}">
        <p14:creationId xmlns:p14="http://schemas.microsoft.com/office/powerpoint/2010/main" val="1634096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A0068B-311D-4F60-9B97-EB667870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7B18DAA9-6C30-49AB-908B-2E6AACC6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22B898C5-FBF7-4A2D-B1C2-A3962A58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DATA RESPONSIBILITY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CDCA0-D7E1-422E-A824-280FE43F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저장소별 책임을 나누면 분석 결과와 운영 데이터가 섞이지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ADF1F-B758-49D0-8181-FFB42428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현재 프로젝트의 DB 테이블과 파일 캐시를 클라우드 저장소 책임으로 재배치한 설계입니다.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77FE9-2843-4202-829C-5653EBCD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A5F1F-296A-48F7-9CC5-D96B10D4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323EED-FDC8-41E9-B890-0065E806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6870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F5055-3DC7-439F-A466-4A7BE33B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저장소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254D5-DA95-4368-A999-CB7FCA5F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8097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314F50-D5DD-4095-BCBA-17D572A7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09750"/>
            <a:ext cx="2743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담는 데이터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2370CC-1E3F-4E7E-B79E-C3BC2611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운영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D1E1F5-8C5B-4B8B-8BA5-78BEA0B1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D68EA9-24CA-4597-9E21-66E628E7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695450"/>
            <a:ext cx="9525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DCBE0-1C63-4004-9686-2961A554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95450"/>
            <a:ext cx="9525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0F5059-2EE8-4C9B-85F5-6DA036A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95450"/>
            <a:ext cx="9525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932C53-8F59-4925-A1B4-A933AF3A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B36ABF-F293-4990-96C1-EEFEA1C4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Object Storage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859E1E-CCC9-45A0-9E9F-B3CA5D6F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2669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원본/리사이즈 이미지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1ADDB9-F279-4F5C-A469-1D9D267F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669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scan image, product image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FAF3F-98B4-45D6-8725-90EE17BC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Lifecycle + private 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50358C-95A8-4F5F-A2C9-1787F2EE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5AB4A3-D524-4542-A506-B93F5BDD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3072F9-984B-470D-8FD7-A59DA5B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81325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Cloud DB MySQL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6DB782-CA6C-46EA-9246-7AB9110B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527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업무 데이터 원장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1EDBBE-23D7-49DD-888A-60EB61C6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527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users, profile, upload, analysis, product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43F4F2-F31C-4A10-ABB3-D09284AE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527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Private subnet + backup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4C70EB-042F-4B2E-8BB5-A65C75C7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5C7E48-6D08-4022-B219-5B0EB698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759354-A321-40C5-964B-8D777F63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Cache / Redis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7791B9-61A8-49F8-8031-7B7D00E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385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짧은 상태·중복 방지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AB89E9-9261-4C65-9057-2A1A9A17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task map, Gemini reason cache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F0FBDF-7216-48E9-BF64-C399DCEA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385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MVP file cache -&gt; managed cache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C2ECE5-F9DE-4163-AD9C-13AB68B6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4BEC0B-CE3B-41BD-B9A5-D2256600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610B92-23A1-48CA-BDC0-65D9AB64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Model Storage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F6AE7C-BE66-427C-98F0-77BBA3CC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243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AI 모델과 seed data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EE6014-9394-462A-9D1E-E6D3E5BF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243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best.pt, yolov8n.pt, ingredient index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16BF5D-ED7B-400D-967B-55A7526B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243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배포 버전 고정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BA7A4E-3507-4F5F-931A-B87872D6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A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EB7C3A-1300-4585-888F-03DF0996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78680B-8E8D-47CE-BC67-CBE7E7B8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8725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Logs / Metrics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D0E03B-90F3-44F7-98D5-AF325B1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0101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운영 관측성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D37C5E-7B9B-4775-8237-958A237C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0101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API latency, AI duration, 429, failures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564B22-7B8F-4803-B638-CE7DFC38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101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Cloud Log Analytics + Alert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D8815B-BBE9-47AB-B3E8-E57B8D29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1007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F8D99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A0A181-CF65-4EE0-A4BD-B88D3463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86740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권장: MVP에서도 업로드 원본은 Object Storage로 빼고, DB에는 경로·분석 결과·점수만 저장합니다. AI task 상태는 Redis/Queue 도입 전까지는 짧게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181579172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389F93-DFC7-406F-83CA-A39425F2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DCFACD0C-C2A6-49B0-A84A-6E7CD807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5B32E5A6-C0EB-4CFE-A9D9-C3D3F7B3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IMPLEMENTATION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610F3-AB0A-458A-960B-B242BD5B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처음부터 복잡하게 가지 말고, AI 병목이 보일 때 단계적으로 확장합니다.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91C0F-4261-4922-A6A2-2F9EC57E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수업 산출물로는 MVP 배포안과 확장안을 함께 제시하는 구성이 설명하기 좋습니다.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E9B7B-BDED-49E5-94F3-44EDAB91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Sunsu Care cloud architecture draft | classroom architecture extended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B2F7A8-4681-459D-A7C5-227D340E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D146B-77EF-4EA3-B6B2-EF328299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28850"/>
            <a:ext cx="2343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D4B1E2-86FC-40E0-9D6F-03DEB392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28850"/>
            <a:ext cx="2343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529E2-E75E-4A06-BD6A-A4097F4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336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42620-2AAD-485B-B9F6-DF4A9A0A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00325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D60E0-8942-4B22-A27D-39AD775E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146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MVP 배포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4C4A3-7386-4E5D-96B2-FF494583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003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3D8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6A3D8"/>
                </a:solidFill>
                <a:latin typeface="Arial"/>
                <a:ea typeface="Arial"/>
                <a:cs typeface="Arial"/>
              </a:rPr>
              <a:t>Docker Server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19ACF-F651-4A5D-834C-53B0B839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19450"/>
            <a:ext cx="188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Object Storage + Cloud DB + Docker 기반 Express/FastAPI 분리 배포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ADD29-A9DE-4798-AE07-1B8C2B9A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28850"/>
            <a:ext cx="2343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B6B79-5A1C-4BBF-8341-73B447A6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28850"/>
            <a:ext cx="2343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021A0-E80E-4B03-B2F0-6F878F05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336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6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0DA80B-2B9D-4438-8675-FDCD5A6C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0325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B83CBC-265F-4430-BA93-8965660B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5146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운영 안정화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A845E6-0482-4AFD-A0A2-B682EA34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003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B67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CB67D"/>
                </a:solidFill>
                <a:latin typeface="Arial"/>
                <a:ea typeface="Arial"/>
                <a:cs typeface="Arial"/>
              </a:rPr>
              <a:t>Managed observability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1EEA20-4077-43CA-B64E-99A169C6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19450"/>
            <a:ext cx="188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Cloud Log Analytics, Cloud Insight, Health Check, 알림 기준 추가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0EC970-1717-48D1-A9B1-05098F74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28850"/>
            <a:ext cx="2343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6E32BE-F7A7-472E-9371-EE5257DD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28850"/>
            <a:ext cx="2343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6BB8EE-4ACA-486E-9738-3F92236D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336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1C665-9964-491B-99C9-313BB027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0325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8DE776-F40A-4679-A608-B6D93F1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146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AI 병목 해소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F0C749-DB64-4892-9BDE-6080A282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003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Queue + 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57E180-8468-4863-A2A9-0D4ADE22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19450"/>
            <a:ext cx="188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분석 요청을 큐로 분리하고 FastAPI worker를 수평 확장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A7DB13-5E4F-4034-92BB-4EA37A1E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28850"/>
            <a:ext cx="2343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21E85C-7A0D-40E4-972C-CC754592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28850"/>
            <a:ext cx="2343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04BC23-7738-48F8-BBB6-F4113A69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336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14798-498E-4CE1-91E7-1642102B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00325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5313F3-4BF8-4325-96A8-35B36316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146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서비스 확장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E2895A-69A2-4C69-9F0C-B60E2A95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003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F293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F2933"/>
                </a:solidFill>
                <a:latin typeface="Arial"/>
                <a:ea typeface="Arial"/>
                <a:cs typeface="Arial"/>
              </a:rPr>
              <a:t>NKS + autoscale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82F261-F9DF-4811-A27F-960657AB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188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915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Ncloud Kubernetes Service, private registry, rolling deployment 적용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6A2392-408C-443B-8BCC-92811111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38700"/>
            <a:ext cx="46101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CFE"/>
          </a:solidFill>
          <a:ln xmlns:a="http://schemas.openxmlformats.org/drawingml/2006/main" w="9525">
            <a:solidFill>
              <a:srgbClr val="B7E3F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DA7B46-94AD-4D72-8F76-2FACC165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0482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발표용 결론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408E08-AD29-4C40-8D33-30DF7800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006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5DF6C3-D27B-4AB9-9DFE-4348376E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3810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수업 구조는 유지하되, Sunsu Care는 AI 서버와 DB를 Private으로 격리해야 합니다.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78A8EC-87B0-4023-9D75-D05CBDD6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38700"/>
            <a:ext cx="46101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5"/>
          </a:solidFill>
          <a:ln xmlns:a="http://schemas.openxmlformats.org/drawingml/2006/main" w="9525">
            <a:solidFill>
              <a:srgbClr val="F8D99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349D98-D279-4710-B958-1D1CA455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0482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구현 우선순위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5D6085-8768-4A8C-80F3-D7A0D75F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4006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EFF45E-A9E5-49FC-A822-8926099C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34000"/>
            <a:ext cx="3714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863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1차: Object Storage, Cloud DB, Docker 배포. 2차: Queue/Redis, NKS, 모니터링 자동화.</a:t>
            </a:r>
          </a:p>
        </p:txBody>
      </p:sp>
    </p:spTree>
    <p:extLst>
      <p:ext uri="{BB962C8B-B14F-4D97-AF65-F5344CB8AC3E}">
        <p14:creationId xmlns:p14="http://schemas.microsoft.com/office/powerpoint/2010/main" val="10177595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2026-06-17T03:44:17.0980000Z</dcterms:created>
  <dcterms:modified xsi:type="dcterms:W3CDTF">2026-06-17T03:44:17.0990000Z</dcterms:modified>
</coreProperties>
</file>