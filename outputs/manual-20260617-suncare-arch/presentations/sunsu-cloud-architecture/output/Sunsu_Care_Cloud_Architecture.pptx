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bae83fb30e4d3f" /><Relationship Type="http://schemas.openxmlformats.org/officeDocument/2006/relationships/extended-properties" Target="/docProps/app.xml" Id="R74ceb305f4724a9a" /><Relationship Type="http://schemas.openxmlformats.org/officeDocument/2006/relationships/officeDocument" Target="/ppt/presentation.xml" Id="Rc9c3aacf9efb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1698d2ac0f4d0e"/>
  </p:sldMasterIdLst>
  <p:notesMasterIdLst>
    <p:notesMasterId xmlns:r="http://schemas.openxmlformats.org/officeDocument/2006/relationships" r:id="Rd2c0750d6ae14d83"/>
  </p:notesMasterIdLst>
  <p:sldIdLst>
    <p:sldId xmlns:r="http://schemas.openxmlformats.org/officeDocument/2006/relationships" id="256" r:id="Rdb5786f70f674dd6"/>
    <p:sldId xmlns:r="http://schemas.openxmlformats.org/officeDocument/2006/relationships" id="257" r:id="Rbf9f4185bcac42ec"/>
    <p:sldId xmlns:r="http://schemas.openxmlformats.org/officeDocument/2006/relationships" id="258" r:id="R79c942c8aca34433"/>
    <p:sldId xmlns:r="http://schemas.openxmlformats.org/officeDocument/2006/relationships" id="259" r:id="R58e96bed4cc04ea6"/>
    <p:sldId xmlns:r="http://schemas.openxmlformats.org/officeDocument/2006/relationships" id="260" r:id="Rabc0df7af44b4c51"/>
    <p:sldId xmlns:r="http://schemas.openxmlformats.org/officeDocument/2006/relationships" id="261" r:id="Ra2afdd61d59f4cc6"/>
    <p:sldId xmlns:r="http://schemas.openxmlformats.org/officeDocument/2006/relationships" id="262" r:id="R754137a2749d47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e20c5c83ac4790" /><Relationship Type="http://schemas.openxmlformats.org/officeDocument/2006/relationships/slideMaster" Target="/ppt/slideMasters/slideMaster1.xml" Id="R991698d2ac0f4d0e" /><Relationship Type="http://schemas.openxmlformats.org/officeDocument/2006/relationships/notesMaster" Target="/ppt/notesMasters/notesMaster1.xml" Id="Rd2c0750d6ae14d83" /><Relationship Type="http://schemas.openxmlformats.org/officeDocument/2006/relationships/presProps" Target="/ppt/presProps.xml" Id="R15ea2f6d9bff40c6" /><Relationship Type="http://schemas.openxmlformats.org/officeDocument/2006/relationships/viewProps" Target="/ppt/viewProps.xml" Id="Re13ec4b2695f42cc" /><Relationship Type="http://schemas.openxmlformats.org/officeDocument/2006/relationships/tableStyles" Target="/ppt/tableStyles.xml" Id="R2015dd69adc44a3a" /><Relationship Type="http://schemas.openxmlformats.org/officeDocument/2006/relationships/slide" Target="/ppt/slides/slide1.xml" Id="Rdb5786f70f674dd6" /><Relationship Type="http://schemas.openxmlformats.org/officeDocument/2006/relationships/slide" Target="/ppt/slides/slide2.xml" Id="Rbf9f4185bcac42ec" /><Relationship Type="http://schemas.openxmlformats.org/officeDocument/2006/relationships/slide" Target="/ppt/slides/slide3.xml" Id="R79c942c8aca34433" /><Relationship Type="http://schemas.openxmlformats.org/officeDocument/2006/relationships/slide" Target="/ppt/slides/slide4.xml" Id="R58e96bed4cc04ea6" /><Relationship Type="http://schemas.openxmlformats.org/officeDocument/2006/relationships/slide" Target="/ppt/slides/slide5.xml" Id="Rabc0df7af44b4c51" /><Relationship Type="http://schemas.openxmlformats.org/officeDocument/2006/relationships/slide" Target="/ppt/slides/slide6.xml" Id="Ra2afdd61d59f4cc6" /><Relationship Type="http://schemas.openxmlformats.org/officeDocument/2006/relationships/slide" Target="/ppt/slides/slide7.xml" Id="R754137a2749d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5c99fb8023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9c39ea31c4d72" /><Relationship Type="http://schemas.openxmlformats.org/officeDocument/2006/relationships/notesMaster" Target="/ppt/notesMasters/notesMaster1.xml" Id="R84f30cdf592e44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b4881a026b4f70" /><Relationship Type="http://schemas.openxmlformats.org/officeDocument/2006/relationships/notesMaster" Target="/ppt/notesMasters/notesMaster1.xml" Id="R057d2146ac9140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e4d0a78ca4f15" /><Relationship Type="http://schemas.openxmlformats.org/officeDocument/2006/relationships/notesMaster" Target="/ppt/notesMasters/notesMaster1.xml" Id="R9235ed3949344f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94eb6cfa7a4b62" /><Relationship Type="http://schemas.openxmlformats.org/officeDocument/2006/relationships/notesMaster" Target="/ppt/notesMasters/notesMaster1.xml" Id="Re5812ad7cc12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5a945d8b64678" /><Relationship Type="http://schemas.openxmlformats.org/officeDocument/2006/relationships/notesMaster" Target="/ppt/notesMasters/notesMaster1.xml" Id="R64cfedd0fac4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06943a71994dd4" /><Relationship Type="http://schemas.openxmlformats.org/officeDocument/2006/relationships/notesMaster" Target="/ppt/notesMasters/notesMaster1.xml" Id="R646399c52ee64b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6183d210e74788" /><Relationship Type="http://schemas.openxmlformats.org/officeDocument/2006/relationships/notesMaster" Target="/ppt/notesMasters/notesMaster1.xml" Id="R7f717658f98e4c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30f5711c7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35633dd8a43c6" /><Relationship Type="http://schemas.openxmlformats.org/officeDocument/2006/relationships/slideLayout" Target="/ppt/slideLayouts/slideLayout1.xml" Id="R3a0d736ccc6644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d736ccc6644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5552938944731" /><Relationship Type="http://schemas.openxmlformats.org/officeDocument/2006/relationships/image" Target="/ppt/media/image.png" Id="Raa75e2ebeacc4059" /><Relationship Type="http://schemas.openxmlformats.org/officeDocument/2006/relationships/image" Target="/ppt/media/image.svg" Id="R980911c0fb984e20" /><Relationship Type="http://schemas.openxmlformats.org/officeDocument/2006/relationships/image" Target="/ppt/media/image2.png" Id="R5ac02d41769b4644" /><Relationship Type="http://schemas.openxmlformats.org/officeDocument/2006/relationships/image" Target="/ppt/media/image2.svg" Id="Rd9d922add7f34b7e" /><Relationship Type="http://schemas.openxmlformats.org/officeDocument/2006/relationships/image" Target="/ppt/media/image3.png" Id="R90596737c4ed4400" /><Relationship Type="http://schemas.openxmlformats.org/officeDocument/2006/relationships/image" Target="/ppt/media/image3.svg" Id="R86420d43fad04c70" /><Relationship Type="http://schemas.openxmlformats.org/officeDocument/2006/relationships/image" Target="/ppt/media/image4.png" Id="Rac2587df868f46f2" /><Relationship Type="http://schemas.openxmlformats.org/officeDocument/2006/relationships/image" Target="/ppt/media/image4.svg" Id="Rfed8e6048b3544d3" /><Relationship Type="http://schemas.openxmlformats.org/officeDocument/2006/relationships/notesSlide" Target="/ppt/notesSlides/notesSlide1.xml" Id="R381c91b969ce43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4e90d26f04822" /><Relationship Type="http://schemas.openxmlformats.org/officeDocument/2006/relationships/image" Target="/ppt/media/image5.png" Id="R12cf7dfa81d74315" /><Relationship Type="http://schemas.openxmlformats.org/officeDocument/2006/relationships/image" Target="/ppt/media/image5.svg" Id="R3dac5eca2f33445a" /><Relationship Type="http://schemas.openxmlformats.org/officeDocument/2006/relationships/image" Target="/ppt/media/image6.png" Id="R8767a44d1770482e" /><Relationship Type="http://schemas.openxmlformats.org/officeDocument/2006/relationships/image" Target="/ppt/media/image6.svg" Id="R2503c785ef444549" /><Relationship Type="http://schemas.openxmlformats.org/officeDocument/2006/relationships/image" Target="/ppt/media/image7.png" Id="Rf87b9f61bdfc405e" /><Relationship Type="http://schemas.openxmlformats.org/officeDocument/2006/relationships/image" Target="/ppt/media/image7.svg" Id="R20f00466c070440b" /><Relationship Type="http://schemas.openxmlformats.org/officeDocument/2006/relationships/image" Target="/ppt/media/image8.png" Id="Rc9b479fefcf74147" /><Relationship Type="http://schemas.openxmlformats.org/officeDocument/2006/relationships/image" Target="/ppt/media/image8.svg" Id="R8ec21f8bf5414007" /><Relationship Type="http://schemas.openxmlformats.org/officeDocument/2006/relationships/image" Target="/ppt/media/image9.png" Id="R3fedacd828d24745" /><Relationship Type="http://schemas.openxmlformats.org/officeDocument/2006/relationships/image" Target="/ppt/media/image9.svg" Id="R45d1aacabcf045dd" /><Relationship Type="http://schemas.openxmlformats.org/officeDocument/2006/relationships/image" Target="/ppt/media/image10.png" Id="R0c0bd3cc655e4f1d" /><Relationship Type="http://schemas.openxmlformats.org/officeDocument/2006/relationships/image" Target="/ppt/media/image10.svg" Id="R50bebb84013e4711" /><Relationship Type="http://schemas.openxmlformats.org/officeDocument/2006/relationships/image" Target="/ppt/media/image11.png" Id="R0ae89b6a4fd246ab" /><Relationship Type="http://schemas.openxmlformats.org/officeDocument/2006/relationships/image" Target="/ppt/media/image11.svg" Id="R2051f28bbe054637" /><Relationship Type="http://schemas.openxmlformats.org/officeDocument/2006/relationships/notesSlide" Target="/ppt/notesSlides/notesSlide2.xml" Id="R7802d088b3c4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d694ef8434737" /><Relationship Type="http://schemas.openxmlformats.org/officeDocument/2006/relationships/image" Target="/ppt/media/image12.png" Id="Rdaceb41bdebb4f89" /><Relationship Type="http://schemas.openxmlformats.org/officeDocument/2006/relationships/image" Target="/ppt/media/image12.svg" Id="R278f4bd3124b4e21" /><Relationship Type="http://schemas.openxmlformats.org/officeDocument/2006/relationships/image" Target="/ppt/media/image13.png" Id="R0bda5224b6bb4e97" /><Relationship Type="http://schemas.openxmlformats.org/officeDocument/2006/relationships/image" Target="/ppt/media/image13.svg" Id="Redb25d87ab1348dd" /><Relationship Type="http://schemas.openxmlformats.org/officeDocument/2006/relationships/image" Target="/ppt/media/image14.png" Id="R921f44dde6d24c13" /><Relationship Type="http://schemas.openxmlformats.org/officeDocument/2006/relationships/image" Target="/ppt/media/image14.svg" Id="Racb9506b3c594937" /><Relationship Type="http://schemas.openxmlformats.org/officeDocument/2006/relationships/image" Target="/ppt/media/image15.png" Id="R0b82c24a2b17462c" /><Relationship Type="http://schemas.openxmlformats.org/officeDocument/2006/relationships/image" Target="/ppt/media/image15.svg" Id="R6d9e10bd16774a25" /><Relationship Type="http://schemas.openxmlformats.org/officeDocument/2006/relationships/image" Target="/ppt/media/image16.png" Id="Rfe32a874c0ee4901" /><Relationship Type="http://schemas.openxmlformats.org/officeDocument/2006/relationships/image" Target="/ppt/media/image16.svg" Id="R26a7d7d3c6184979" /><Relationship Type="http://schemas.openxmlformats.org/officeDocument/2006/relationships/image" Target="/ppt/media/image17.png" Id="R90123fd362d943e1" /><Relationship Type="http://schemas.openxmlformats.org/officeDocument/2006/relationships/image" Target="/ppt/media/image17.svg" Id="R6604d5e5dd9645a4" /><Relationship Type="http://schemas.openxmlformats.org/officeDocument/2006/relationships/image" Target="/ppt/media/image18.png" Id="R4a581f25e0294907" /><Relationship Type="http://schemas.openxmlformats.org/officeDocument/2006/relationships/image" Target="/ppt/media/image18.svg" Id="R6d3f4f0df6ad4665" /><Relationship Type="http://schemas.openxmlformats.org/officeDocument/2006/relationships/image" Target="/ppt/media/image19.png" Id="R161ca078b6104bfa" /><Relationship Type="http://schemas.openxmlformats.org/officeDocument/2006/relationships/image" Target="/ppt/media/image19.svg" Id="R9e49fb64a5d54ba4" /><Relationship Type="http://schemas.openxmlformats.org/officeDocument/2006/relationships/image" Target="/ppt/media/image20.png" Id="R1f7b184564ba4e0e" /><Relationship Type="http://schemas.openxmlformats.org/officeDocument/2006/relationships/image" Target="/ppt/media/image20.svg" Id="R94319ebfdbb44c0d" /><Relationship Type="http://schemas.openxmlformats.org/officeDocument/2006/relationships/image" Target="/ppt/media/image21.png" Id="R26ec02fba4b94413" /><Relationship Type="http://schemas.openxmlformats.org/officeDocument/2006/relationships/image" Target="/ppt/media/image21.svg" Id="R14eabaf28f3c4d05" /><Relationship Type="http://schemas.openxmlformats.org/officeDocument/2006/relationships/notesSlide" Target="/ppt/notesSlides/notesSlide3.xml" Id="Rfac99cd9f0834c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c6216c72141e6" /><Relationship Type="http://schemas.openxmlformats.org/officeDocument/2006/relationships/image" Target="/ppt/media/image22.png" Id="Rfdf94b750bfb49d0" /><Relationship Type="http://schemas.openxmlformats.org/officeDocument/2006/relationships/image" Target="/ppt/media/image22.svg" Id="R97da522a99e94ee0" /><Relationship Type="http://schemas.openxmlformats.org/officeDocument/2006/relationships/image" Target="/ppt/media/image23.png" Id="Rfc90dc3a859645e4" /><Relationship Type="http://schemas.openxmlformats.org/officeDocument/2006/relationships/image" Target="/ppt/media/image23.svg" Id="Rf67a4dac7281432b" /><Relationship Type="http://schemas.openxmlformats.org/officeDocument/2006/relationships/image" Target="/ppt/media/image24.png" Id="Rd9f1048f61d94ec5" /><Relationship Type="http://schemas.openxmlformats.org/officeDocument/2006/relationships/image" Target="/ppt/media/image24.svg" Id="R1c30fa82647d4418" /><Relationship Type="http://schemas.openxmlformats.org/officeDocument/2006/relationships/image" Target="/ppt/media/image25.png" Id="R7fa2eb5449a24678" /><Relationship Type="http://schemas.openxmlformats.org/officeDocument/2006/relationships/image" Target="/ppt/media/image25.svg" Id="R9a89786306da4047" /><Relationship Type="http://schemas.openxmlformats.org/officeDocument/2006/relationships/image" Target="/ppt/media/image26.png" Id="Rdbec2e8831d74962" /><Relationship Type="http://schemas.openxmlformats.org/officeDocument/2006/relationships/image" Target="/ppt/media/image26.svg" Id="Rec01d33068a64477" /><Relationship Type="http://schemas.openxmlformats.org/officeDocument/2006/relationships/notesSlide" Target="/ppt/notesSlides/notesSlide4.xml" Id="R0307a9ebc7b749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81a3e8fd64d7e" /><Relationship Type="http://schemas.openxmlformats.org/officeDocument/2006/relationships/image" Target="/ppt/media/image27.png" Id="R275aea8e09af47f2" /><Relationship Type="http://schemas.openxmlformats.org/officeDocument/2006/relationships/image" Target="/ppt/media/image27.svg" Id="R749b47876d0047a9" /><Relationship Type="http://schemas.openxmlformats.org/officeDocument/2006/relationships/image" Target="/ppt/media/image28.png" Id="R1ba3e45f5f8743d4" /><Relationship Type="http://schemas.openxmlformats.org/officeDocument/2006/relationships/image" Target="/ppt/media/image28.svg" Id="R0d8f93f67ee047ce" /><Relationship Type="http://schemas.openxmlformats.org/officeDocument/2006/relationships/image" Target="/ppt/media/image29.png" Id="Re5eeacd16b9b4871" /><Relationship Type="http://schemas.openxmlformats.org/officeDocument/2006/relationships/image" Target="/ppt/media/image29.svg" Id="R1d2e14043b144402" /><Relationship Type="http://schemas.openxmlformats.org/officeDocument/2006/relationships/image" Target="/ppt/media/image30.png" Id="R37ba5dab9e6a4d74" /><Relationship Type="http://schemas.openxmlformats.org/officeDocument/2006/relationships/image" Target="/ppt/media/image30.svg" Id="Re1381d712f984c11" /><Relationship Type="http://schemas.openxmlformats.org/officeDocument/2006/relationships/image" Target="/ppt/media/image31.png" Id="R1396109f3f2342e3" /><Relationship Type="http://schemas.openxmlformats.org/officeDocument/2006/relationships/image" Target="/ppt/media/image31.svg" Id="Racb56b6cf2d04511" /><Relationship Type="http://schemas.openxmlformats.org/officeDocument/2006/relationships/image" Target="/ppt/media/image32.png" Id="Reece9bb8ef8e49d1" /><Relationship Type="http://schemas.openxmlformats.org/officeDocument/2006/relationships/image" Target="/ppt/media/image32.svg" Id="Rd53f8aa9e81f46b1" /><Relationship Type="http://schemas.openxmlformats.org/officeDocument/2006/relationships/image" Target="/ppt/media/image33.png" Id="Rd83500c466484933" /><Relationship Type="http://schemas.openxmlformats.org/officeDocument/2006/relationships/image" Target="/ppt/media/image33.svg" Id="Re92516d6987d48a7" /><Relationship Type="http://schemas.openxmlformats.org/officeDocument/2006/relationships/image" Target="/ppt/media/image34.png" Id="Rf7423074adae42fe" /><Relationship Type="http://schemas.openxmlformats.org/officeDocument/2006/relationships/image" Target="/ppt/media/image34.svg" Id="Rd87d37519ae44b0c" /><Relationship Type="http://schemas.openxmlformats.org/officeDocument/2006/relationships/notesSlide" Target="/ppt/notesSlides/notesSlide5.xml" Id="R2f910ebadd874c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742dfbf2c45f1" /><Relationship Type="http://schemas.openxmlformats.org/officeDocument/2006/relationships/notesSlide" Target="/ppt/notesSlides/notesSlide6.xml" Id="Rf124ed53c52146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23e211745491e" /><Relationship Type="http://schemas.openxmlformats.org/officeDocument/2006/relationships/notesSlide" Target="/ppt/notesSlides/notesSlide7.xml" Id="Re1737f497a8745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72955-F8E7-4E77-865B-34D9ECF5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17B08563-D449-4C25-A8CA-C07D3B9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E7E4FDB6-29B8-4421-9196-266958F6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SUNSU CARE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08B0A-3ED5-4CCB-932E-48BE2FF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E4FAD-F06B-4356-99D3-E8B84C1F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798F4-964E-4723-85EF-E6D87156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286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수업 웹 아키텍처를</a:t>
            </a:r>
          </a:p>
          <a:p xmlns:a="http://schemas.openxmlformats.org/drawingml/2006/main">
            <a:pPr algn="l">
              <a:defRPr sz="30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 선케어 분석 플랫폼으로 확장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E96EC-3A27-4DE1-B53E-A0B4B7C6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React + Node 기본 구조에 FastAPI AI 분석 서버, Object Storage, Cloud DB, 외부 OCR/LLM API, 운영 관측성을 추가한 클라우드 설계안입니다.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F0F41-5672-4140-93A8-AD57920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38100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2D73C-AF81-49DB-AF4C-3184854D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429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핵심 설계 방향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92D43-B785-4A2E-89DA-9FB4A98E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2AA7D-0184-4733-AF2F-C62F4EA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62075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Load Balancer만 Public, API/AI/DB는 Private Subnet에 배치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E8337-61E2-4101-B1FD-704D4AA4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22AD7-E6B6-4B65-8EF4-3086116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859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이미지 분석은 업로드 수락과 AI 완료를 분리한 비동기 흐름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A9B4F-1094-422F-AAA7-B49A5A52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F9ECC-BBCD-402B-A24F-E94C4DE3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9825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OCR/Gemini 호출은 NAT Gateway와 내부 토큰으로 통제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3F659-6C4A-4E1E-94AD-73C86626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A3DC4-056A-4EED-999C-03BC2107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5e2ebeacc4059">
            <a:extLst>
              <a:ext uri="{96DAC541-7B7A-43D3-8B79-37D633B846F1}">
                <asvg:svgBlip xmlns:asvg="http://schemas.microsoft.com/office/drawing/2016/SVG/main" r:embed="R980911c0fb984e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4019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861F4-423A-4571-8738-19CEF158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90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React SPA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FDF07-2616-4981-BE1D-D499351A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Vite build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Object Storage + CDN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D19409-7907-416D-AAB6-9C7AE695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B9B6B-83E4-49F6-B0FE-75E184FE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481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02d41769b4644">
            <a:extLst>
              <a:ext uri="{96DAC541-7B7A-43D3-8B79-37D633B846F1}">
                <asvg:svgBlip xmlns:asvg="http://schemas.microsoft.com/office/drawing/2016/SVG/main" r:embed="Rd9d922add7f34b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67150" y="4019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F6A743-E10A-4A6C-983A-91A556C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90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Express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ACCB3-DC91-4A9B-A932-2FA318D7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481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Auth / Upload / Callback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Recommendation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75B215-606D-480F-BA13-71C0EA6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1F7EC-BB48-40D2-B734-D42A248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96737c4ed4400">
            <a:extLst>
              <a:ext uri="{96DAC541-7B7A-43D3-8B79-37D633B846F1}">
                <asvg:svgBlip xmlns:asvg="http://schemas.microsoft.com/office/drawing/2016/SVG/main" r:embed="R86420d43fad04c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86550" y="4019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BFF5C-DA1F-47B6-B389-2EEC52F3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90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FastAPI 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E59A7-9EEA-4EAC-9995-703A67A6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481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YOLOv8 + OCR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Ingredient matcher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9FD1F-2497-47AE-B6E0-A3736438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EEB2A6-1A2F-4452-A983-ECEBB9F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481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587df868f46f2">
            <a:extLst>
              <a:ext uri="{96DAC541-7B7A-43D3-8B79-37D633B846F1}">
                <asvg:svgBlip xmlns:asvg="http://schemas.microsoft.com/office/drawing/2016/SVG/main" r:embed="Rfed8e6048b3544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05950" y="4019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1610E8-69E5-45CB-9DF1-9F537469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909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Data Plane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2AF9A4-11FA-4225-B175-293E2BE3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481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Cloud DB MySQL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Object Storage / Logs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94F6A9-5CE5-46D4-8296-D2F8C83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862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D9EE3E-E419-4B8E-83E3-F661FB2F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57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01696A-6955-423C-9BF8-58EB564E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862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74D7E9-77DD-4B4B-9205-9E031E6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57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E8B35B-A99A-49F1-A921-7303870E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B406C5-8799-44BD-B68C-52CCDA6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57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15E400-0158-4443-BE6B-4538AE6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수업 예시의 VPC/Subnet/Load Balancer 구조는 유지하고, Sunsu Care의 AI 분석·저장·운영 요소를 실제 배포 단위로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8834530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C66FE8-1383-43F6-AC71-C5F4E93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07CD47B-957C-46DE-8DA1-6392EFB0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8C8133A1-DBBF-45F8-AFF4-27F73AEE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CLASSROOM MODEL TO SUNSU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92438-2104-4E3C-8766-B21D923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기본 React+Node 구조에 AI 분석 전용 경로를 추가합니다.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3442-6915-4CAC-A6A9-46F2BF4A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수업시간 웹 서비스 아키텍처는 좋은 출발점입니다. Sunsu Care는 이미지 분석과 추천 이유 생성을 위한 별도 서비스 경계가 필요합니다.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DCEAD-E3DC-4BE3-B65E-CDB1A661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FB3F5-5B98-4086-8B67-47F9769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A0074-B0F9-48B3-B6D8-CA5C2528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953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B730B-9918-4693-A166-6CFE2C4B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수업 예시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F76E0-52B9-42E8-8F9B-F4FD76E3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React + Node 웹 서버 중심의 단순 요청/응답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BFED0-C421-4C8E-A6CD-0CCF957C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D31B6-A82A-4EA6-99E7-E90B0CFA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f7dfa81d74315">
            <a:extLst>
              <a:ext uri="{96DAC541-7B7A-43D3-8B79-37D633B846F1}">
                <asvg:svgBlip xmlns:asvg="http://schemas.microsoft.com/office/drawing/2016/SVG/main" r:embed="R3dac5eca2f3344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B5EBB-CCC7-41D7-80C6-12ABE895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384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D8FD2-80A5-4ED4-81F4-867959E3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95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5D412-8151-4CDE-A6B8-2AFD987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CCAFD-ECBF-4C48-9020-E64D8D19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a44d1770482e">
            <a:extLst>
              <a:ext uri="{96DAC541-7B7A-43D3-8B79-37D633B846F1}">
                <asvg:svgBlip xmlns:asvg="http://schemas.microsoft.com/office/drawing/2016/SVG/main" r:embed="R2503c785ef4445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9565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ADB12C-7EF6-4D6D-9AF3-F25271D2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384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Load Balancer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87CA6-E9AD-4256-8366-7F83C5D4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956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Public entry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A273F-006C-473B-B3B4-B85AE741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A1527-F725-4A4D-9253-81B9694B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b9f61bdfc405e">
            <a:extLst>
              <a:ext uri="{96DAC541-7B7A-43D3-8B79-37D633B846F1}">
                <asvg:svgBlip xmlns:asvg="http://schemas.microsoft.com/office/drawing/2016/SVG/main" r:embed="R20f00466c07044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47900" y="44005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96162-203F-477D-9A37-69EA53E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719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Web Servers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7EF29-8E20-4A58-9FFE-893072AD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291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Docker / Node.js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004D1-B9E4-4B0E-B7EE-2035C383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385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AC0FD-6A7F-4896-8005-D22011BF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33CE9-050B-43E3-B588-DF55BD2C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81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4F8E02-EBCB-4887-B131-EDB55FDC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F6CF94-5731-45A3-88D6-79D3DA65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2E4454-929E-428D-A59F-8A30BB3C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요청 흐름은 단순하지만 AI 작업 대기, 콜백, 외부 API 통제가 표현되지 않음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4CF4B1-08AE-4A91-B10C-E51773B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00200"/>
            <a:ext cx="49530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218022-7AB3-4642-8139-16889088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66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Sunsu Care 확장 구조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51E5E-AA53-4285-918A-BB036373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621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API 서버와 AI 서버를 분리하고, 결과 저장과 추천 생성까지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83C9C7-ECDA-4F20-8DDC-971F9AB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0F4BF9-BA04-405C-8D30-5C246FA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479fefcf74147">
            <a:extLst>
              <a:ext uri="{96DAC541-7B7A-43D3-8B79-37D633B846F1}">
                <asvg:svgBlip xmlns:asvg="http://schemas.microsoft.com/office/drawing/2016/SVG/main" r:embed="R8ec21f8bf54140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2470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F1ABEA-E8AA-4D8F-8341-E8B79E6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384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React SPA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FF2074-59D1-4B0E-9E9E-EACBCDF5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956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Object Storage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CDN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013D22-36E6-4E15-A8D2-186813D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ED76BD-5F54-4C3E-BE55-C4BC2BD9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dacd828d24745">
            <a:extLst>
              <a:ext uri="{96DAC541-7B7A-43D3-8B79-37D633B846F1}">
                <asvg:svgBlip xmlns:asvg="http://schemas.microsoft.com/office/drawing/2016/SVG/main" r:embed="R45d1aacabcf045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15400" y="30670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35F4F7-F509-4ADA-9741-D780AAD9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384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Express API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2300CA-40A1-4DA7-95F8-90C0756B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9565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Auth / Upload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Polling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13795F-5ED6-4C26-9812-4F1129A6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95BAD2-DB2B-4C06-8548-7C7DE5DD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bd3cc655e4f1d">
            <a:extLst>
              <a:ext uri="{96DAC541-7B7A-43D3-8B79-37D633B846F1}">
                <asvg:svgBlip xmlns:asvg="http://schemas.microsoft.com/office/drawing/2016/SVG/main" r:embed="R50bebb84013e47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15400" y="4381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371F6F-A3F4-4DF5-BA55-25112C9A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5292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FastAPI AI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8BEF62-6A45-4443-9430-4C80C014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101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YOLOv8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CLOVA OCR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29A5C3-B61E-462C-89AE-B47DDE1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B6E68E-F3D7-420B-80FC-5BAFB92B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623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89b6a4fd246ab">
            <a:extLst>
              <a:ext uri="{96DAC541-7B7A-43D3-8B79-37D633B846F1}">
                <asvg:svgBlip xmlns:asvg="http://schemas.microsoft.com/office/drawing/2016/SVG/main" r:embed="R2051f28bbe0546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39400" y="37338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013D3C-A1B5-4F23-85CC-CAFF346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705225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MySQL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3D80B7-63C1-414B-8C22-EBCB188E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96240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Analysis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Profile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8E73C1-A902-4A40-AD68-2884266B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05A2E2-6565-41AA-81C4-90812124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9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22C9C2-8948-43AA-93F6-9F2276A0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81400"/>
            <a:ext cx="19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0060E6-3785-4657-9E28-2CEE5D51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13E0D3-151C-4841-8667-32EB84F4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905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D79F1D-8AAC-46B5-8968-5F04048A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61A45D-15A5-4386-A72A-12C4BE29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72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72EC45-540C-444C-9BA5-4F545E3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4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이미지 업로드, AI 분석, 콜백 저장, Gemini 추천 이유 생성을 별도 경로로 구분</a:t>
            </a:r>
          </a:p>
        </p:txBody>
      </p:sp>
    </p:spTree>
    <p:extLst>
      <p:ext uri="{BB962C8B-B14F-4D97-AF65-F5344CB8AC3E}">
        <p14:creationId xmlns:p14="http://schemas.microsoft.com/office/powerpoint/2010/main" val="4276709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14C69B-FA38-475C-BF21-4E4CA7C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883FB64E-B710-4257-83FF-AAE9E5D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441D6DBB-766F-4433-AB79-4A3B13B5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TARGET CLOUD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BAF9A-0383-44D8-8A1F-2A91EEB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Public 진입점은 작게, API·AI·데이터 계층은 Private으로 둡니다.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03824-E860-4EE0-9AFD-18DD685B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Naver Cloud 기준으로 표현한 권장 배포 구조입니다. MVP는 Docker Server로 시작하고, 트래픽 증가 시 NKS로 이전할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056D1-F145-4932-958E-79865630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73FEB-C98F-4C5B-9125-C2264E8D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6A904-D956-4E09-97D9-82CC865A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933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FD8B3-B9F0-4E61-85A9-65DAB9AB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1162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DDA90-8C1F-49F2-B21A-FC3B301E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669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eb41bdebb4f89">
            <a:extLst>
              <a:ext uri="{96DAC541-7B7A-43D3-8B79-37D633B846F1}">
                <asvg:svgBlip xmlns:asvg="http://schemas.microsoft.com/office/drawing/2016/SVG/main" r:embed="R278f4bd3124b4e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0383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012C4-9205-4FF0-B5A2-8DF0F408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97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Mobile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0C38F-EF63-49C4-8519-D3F38BB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React SPA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19C85-36D9-470F-AE75-74F3078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162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2AF3A-9926-4206-B9F5-F73E2A33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14284-11F2-46BD-B3D7-1A50D9A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43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743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1FE99-A21E-4787-94E7-D04414A3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GitHub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04F6D-5D8F-416C-96FA-2B7E86F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Actions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CI/CD</a:t>
            </a:r>
          </a:p>
        </p:txBody>
      </p:sp>
      <p:sp>
        <p:nvSpPr>
          <p:cNvPr id="19" name="vpc-boundary">
            <a:extLst xmlns:a="http://schemas.openxmlformats.org/drawingml/2006/main">
              <a:ext uri="{FF2B5EF4-FFF2-40B4-BE49-F238E27FC236}">
                <a16:creationId xmlns:a16="http://schemas.microsoft.com/office/drawing/2014/main" id="{102CA210-D1B2-40C3-B96A-D8ADA84C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09700"/>
            <a:ext cx="68961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19050">
            <a:solidFill>
              <a:srgbClr val="16A3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D6E27-9328-43A1-933D-9AA779D9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430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VPC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09CFE-AD1A-42B8-B2BB-A9499CE1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66900"/>
            <a:ext cx="18097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B7E3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B7CCF-0C5D-4A7F-8625-DE68DC1B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8120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Public Subnet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14824-2118-4D04-825F-0386BB5F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25ADB0-D097-49F2-8AD4-4A40E156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a5224b6bb4e97">
            <a:extLst>
              <a:ext uri="{96DAC541-7B7A-43D3-8B79-37D633B846F1}">
                <asvg:svgBlip xmlns:asvg="http://schemas.microsoft.com/office/drawing/2016/SVG/main" r:embed="Redb25d87ab1348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86050" y="2533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DCCD0-6DEF-41ED-ACE7-EEAD9BD8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0507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Load Balancer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71721C-B418-477A-A008-61940880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HTTPS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/api routing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6C71E5-68A6-49EE-A4B8-59B9674B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76650"/>
            <a:ext cx="1352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3C601-AE6B-442B-AD68-EA2FF47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766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f44dde6d24c13">
            <a:extLst>
              <a:ext uri="{96DAC541-7B7A-43D3-8B79-37D633B846F1}">
                <asvg:svgBlip xmlns:asvg="http://schemas.microsoft.com/office/drawing/2016/SVG/main" r:embed="Racb9506b3c5949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86050" y="3848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814CA-95EE-4FE6-A8BE-B775223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952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NAT Gateway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03689-93B9-4D63-8054-B2F16F9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Private egress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OCR / LLM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0B78E-E493-4956-9237-23545357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EFB"/>
          </a:solidFill>
          <a:ln xmlns:a="http://schemas.openxmlformats.org/drawingml/2006/main" w="9525">
            <a:solidFill>
              <a:srgbClr val="BEEB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F8DA90-D7BD-479E-95EB-C6B2B1FE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B67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B67D"/>
                </a:solidFill>
                <a:latin typeface="Arial"/>
                <a:ea typeface="Arial"/>
                <a:cs typeface="Arial"/>
              </a:rPr>
              <a:t>Private App Subnet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93762A-55D2-42A7-9FDB-DA605AED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CA81B2-5D77-4002-8F6E-495D7A56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2c24a2b17462c">
            <a:extLst>
              <a:ext uri="{96DAC541-7B7A-43D3-8B79-37D633B846F1}">
                <asvg:svgBlip xmlns:asvg="http://schemas.microsoft.com/office/drawing/2016/SVG/main" r:embed="R6d9e10bd16774a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9650" y="2533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59EFF-FA23-42A0-9895-420FD162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0507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Express API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8CB902-8E39-47BB-8816-1000867C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auth / profile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upload / callback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2450E8-8361-416A-AFF5-883CFAC9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A2578F-887E-4B40-B174-B2DB2809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2a874c0ee4901">
            <a:extLst>
              <a:ext uri="{96DAC541-7B7A-43D3-8B79-37D633B846F1}">
                <asvg:svgBlip xmlns:asvg="http://schemas.microsoft.com/office/drawing/2016/SVG/main" r:embed="R26a7d7d3c61849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19650" y="3905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326961-7624-4858-9241-ADA15294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7667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Container Runtime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50F8A2-0B29-4C22-9478-211260B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338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Docker Server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or NKS service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B82C68-B2B6-4800-88E3-F366BCD1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1885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F8D99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128086-AE97-4BDD-A667-6EB2DF0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Private AI Subnet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EA3F86-C350-4C14-AEA5-93BDEE7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135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4AF588-B29D-42B0-9617-D9FEED36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622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23fd362d943e1">
            <a:extLst>
              <a:ext uri="{96DAC541-7B7A-43D3-8B79-37D633B846F1}">
                <asvg:svgBlip xmlns:asvg="http://schemas.microsoft.com/office/drawing/2016/SVG/main" r:embed="R6604d5e5dd96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81850" y="25336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F4D9C-2EB9-4E51-A6B3-1B3E41CB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0507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FastAPI AI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4EE591-16B1-447F-90C9-666A52CB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YOLOv8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Ingredient matcher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39BC7D-474E-4C6A-BDBB-B91A0224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1352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D66253-CA11-4975-8C0E-79F43E35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81f25e0294907">
            <a:extLst>
              <a:ext uri="{96DAC541-7B7A-43D3-8B79-37D633B846F1}">
                <asvg:svgBlip xmlns:asvg="http://schemas.microsoft.com/office/drawing/2016/SVG/main" r:embed="R6d3f4f0df6ad46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81850" y="39052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40B3F7-E45A-445E-AC9F-2AF3363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76675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Model Files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352DF6-688F-45D4-B4AC-B2E1BB65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best.pt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seed data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D51601-5F11-42E1-84F2-B0669803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66900"/>
            <a:ext cx="22669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A79A32-934B-4E51-BF75-B6489E2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47875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Managed Data / External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17E07A-02E8-472F-8C21-8534137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C81C5A-98E4-4ED5-85C1-95ADDE45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ca078b6104bfa">
            <a:extLst>
              <a:ext uri="{96DAC541-7B7A-43D3-8B79-37D633B846F1}">
                <asvg:svgBlip xmlns:asvg="http://schemas.microsoft.com/office/drawing/2016/SVG/main" r:embed="R9e49fb64a5d54b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58350" y="26289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501426-3B69-4E0D-B883-C47EE8FE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03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Object Storage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0B1968-A708-4600-B391-3746541E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 images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product images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5521C1-C583-4D30-B7AE-545B826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3B32D7-1D39-456E-9C26-8D91DD4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b184564ba4e0e">
            <a:extLst>
              <a:ext uri="{96DAC541-7B7A-43D3-8B79-37D633B846F1}">
                <asvg:svgBlip xmlns:asvg="http://schemas.microsoft.com/office/drawing/2016/SVG/main" r:embed="R94319ebfdbb44c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58350" y="35052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3227D5-25D5-4406-AF4A-F0E38118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766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Cloud DB MySQL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FAA300-E70C-4C43-AF84-194D8CFE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338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profile / analysis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product catalog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93544C-7E99-4CDB-97FC-0CBAE2F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100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172380-D663-4CD3-964C-0A0BB841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1005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c02fba4b94413">
            <a:extLst>
              <a:ext uri="{96DAC541-7B7A-43D3-8B79-37D633B846F1}">
                <asvg:svgBlip xmlns:asvg="http://schemas.microsoft.com/office/drawing/2016/SVG/main" r:embed="R14eabaf28f3c4d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58350" y="4381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5378CB-655E-4B35-8B72-1503B435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CLOVA / Gemini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39FC7D-7358-43F2-B373-4EB0869F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10100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OCR + reason text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via NAT egress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52596B-3678-4627-BAD2-59FD209F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8D1B8D-231F-4A0F-8863-5EA3E68F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3359A10-14B6-459E-8A26-8AFE1059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B0E13D-BA07-4EDE-A7D4-586F35D7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95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30F202-53E7-4644-AEED-56E8143F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B1A91F-B5F1-4D61-90F3-9E14C75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14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CF182C-83E8-4E4C-865F-2CEF4A9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4A6202-3FDB-4181-BE4F-895E0F6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14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9A6B6F-F20B-4BC9-AD50-CEF95AB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737FB5-33BB-4DB2-B419-788E1EB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9993B1-3E9F-44CD-BB1B-72028C83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2A0ABA-1BDF-4019-A7CF-E7AAD9BE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4206B5-16F0-4416-AE45-8E981333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1B802E-0BDD-4FB7-8656-9AADA333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29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38B9E0-95FB-4F4F-898A-2B4BBB34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6FEF41F-8D04-4FCC-92BE-E91EBD37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0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D002AF-D6D2-4288-B78C-DBB63BB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135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8927C4-C6A8-47EC-975D-5C7FA17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62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2777089-AA58-4B5F-8791-1AB1059E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8610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FEA5B3F-3D76-41B3-8DAD-189E986A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6A7F79B-2386-4E09-8412-A3173A91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9950"/>
            <a:ext cx="302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656A6E-3F68-4A41-807D-B6E99927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81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CD920D-7310-4C4D-842D-768542C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C2BC0C-46F3-4F68-B839-84399DA3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57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34772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C0A4B-43CC-4506-BA55-FB96ACD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0045248-0AB1-4488-BBA9-BFCD722A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5788C5A7-5D8A-49C5-93B4-E8E76F02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ASYNC ANALYSIS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EBFCE-1CA5-49EB-B06A-3884BB05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업로드 응답과 AI 완료를 분리해야 사용자가 기다리지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7E607-66CB-4F4F-B484-AAED37CB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현재 코드의 Express -&gt; FastAPI 요청, task 조회, callback 저장 구조를 클라우드 운영 흐름으로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02FC1-9B4B-48A8-8F16-711B3766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F1815-8904-4163-86AC-5FF2572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44A5D-714D-47F7-8117-B3DD65B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42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62C09-13BE-403C-AF39-F9750C3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94b750bfb49d0">
            <a:extLst>
              <a:ext uri="{96DAC541-7B7A-43D3-8B79-37D633B846F1}">
                <asvg:svgBlip xmlns:asvg="http://schemas.microsoft.com/office/drawing/2016/SVG/main" r:embed="R97da522a99e94e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26003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F25E4-49DF-4831-80E3-7CC4DC25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E377C-E57C-4C44-B9F2-7DA0BFF2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제품 성분표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업로드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9402A-6783-44E6-BCE0-287FBB0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28875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232B7-6180-47EE-B6F3-02CE713A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28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0dc3a859645e4">
            <a:extLst>
              <a:ext uri="{96DAC541-7B7A-43D3-8B79-37D633B846F1}">
                <asvg:svgBlip xmlns:asvg="http://schemas.microsoft.com/office/drawing/2016/SVG/main" r:embed="Rf67a4dac728143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57500" y="26003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86923-F1D9-4C61-82B8-733D2E0E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Express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1C45D-F349-48FD-865D-7560C8A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289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JWT 확인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tb_upload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36B9B3-3FDA-4298-A1FD-060C2B26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28875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1E4DB-578A-4378-9FB6-40B28D74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28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1048f61d94ec5">
            <a:extLst>
              <a:ext uri="{96DAC541-7B7A-43D3-8B79-37D633B846F1}">
                <asvg:svgBlip xmlns:asvg="http://schemas.microsoft.com/office/drawing/2016/SVG/main" r:embed="R1c30fa82647d44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91100" y="26003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DC52D-A653-4012-81D5-D6AA0648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71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FastAPI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DE3762-1838-477B-B5CA-FF96BCEA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289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task_id 발급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백그라운드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8BB53-82D8-4FCC-AD76-3D6D288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28875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0EADB3-428B-4E4A-A3B4-E50AA4F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28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2eb5449a24678">
            <a:extLst>
              <a:ext uri="{96DAC541-7B7A-43D3-8B79-37D633B846F1}">
                <asvg:svgBlip xmlns:asvg="http://schemas.microsoft.com/office/drawing/2016/SVG/main" r:embed="R9a89786306da40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24700" y="26003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41879-F9A5-4997-82DE-2E9F923C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OCR / YOLO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F04CA-3CF8-4AE3-BB19-AA9AA632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289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CLOVA OCR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YOLOv8 detection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AF5DF-2D39-4F7D-B6A5-E3F38CD2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086E0-1379-4B08-BE5A-7AEB82B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c2e8831d74962">
            <a:extLst>
              <a:ext uri="{96DAC541-7B7A-43D3-8B79-37D633B846F1}">
                <asvg:svgBlip xmlns:asvg="http://schemas.microsoft.com/office/drawing/2016/SVG/main" r:embed="Rec01d33068a644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260032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571FCB-458C-4771-8B9D-067F7749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MySQL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2A5E4-B9DA-4FD2-9933-B34F307D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289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analysis_log</a:t>
            </a:r>
          </a:p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analysis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DBB15-958F-4FE3-8177-AC72E5BD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479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E2B9A5-8F02-4033-BAF9-621EBABC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97444C-F2D3-4261-91E9-6850F1AA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479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B246D3-9583-4825-A148-B250B711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19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FD8BAD-C23B-4E14-8EC6-1D01C2C8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479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3F9456-F8C2-4DD8-8FC2-CB4940C6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19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C4E430-C1AA-4A31-B368-BEFDFA1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4797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04B76C-A623-4D27-A711-9B7BB56A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8B4C06-1827-402C-9815-CDC49EB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85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2E435-2D93-40A9-9F72-5E22D44E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95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1FA583-8E2E-45E7-8895-5847518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169824-B1DD-4C95-9FDF-8D7E90B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48C2EE-6336-4884-A826-36842F86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85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511DEB-9B2F-45E4-8CEE-0A12E5C6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3B0C9F-41BE-49D3-8C73-256B95DE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85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E96295-C398-4ECC-B528-A64EAEFC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201A30-43E4-4781-9A5E-D59ACA20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859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129573-B7D9-4A5C-81E8-18959D3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9591B3-863C-418A-A3A0-B92917D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9029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5AFCB9-6A76-4B88-B853-F681C41A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33875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사용자 체감 흐름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3F72FF-E438-4F68-A8A5-B7BCFAA4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3314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Express는 202 Accepted와 task_id를 빠르게 반환하고, 화면은 /tasks/:taskId를 폴링합니다.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7F7CFD-DFB5-462D-ACF6-1F9B4A51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33875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서버 완료 흐름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4E1115-F2F7-490C-BC20-80EEA68A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4820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FastAPI 완료 후 Express callback으로 결과를 보내고, Express가 점수 계산과 MySQL 저장을 담당합니다.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50520A-AB05-407B-A7C8-D1663CF6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213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72F765-2EC2-4A2B-8CB4-FC43F84A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76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01B699-51EA-4E23-9C4A-E3BFD1BF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160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3D4B59-A576-493E-A407-816BA06F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76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26243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67636A-D673-4FC6-88E7-8D1085BD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90FF752-94C6-45B3-97E0-9A2C97BC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2DD6B4F0-FF28-4F41-A29F-E3E8E9D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SECURITY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BD3EC-4F22-4666-8B5B-5BC49AF0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보안은 Public/Private 분리와 내부 토큰 검증을 함께 써야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28E56-D537-4220-A23C-9DF4A6E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현재 코드의 JWT 사용자 인증과 INTERNAL_TOKEN 서비스 인증을 클라우드 네트워크 경계에 맞게 배치합니다.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DDE5B-B6FF-45B5-AEC6-92171C33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A0D26-9A9A-4FFC-AA87-06EF7EA8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E49B-3F5A-4821-8474-37EECAB9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381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B7E3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F8E14-0DC5-42F6-A520-13160DA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Public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9064A-8CD9-43BA-B95C-04A102B6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C06E3-EDD0-4A52-8A68-7E3CCD7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aea8e09af47f2">
            <a:extLst>
              <a:ext uri="{96DAC541-7B7A-43D3-8B79-37D633B846F1}">
                <asvg:svgBlip xmlns:asvg="http://schemas.microsoft.com/office/drawing/2016/SVG/main" r:embed="R749b47876d0047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4193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F1DF9-8E63-4EF2-B898-963F0CD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907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HTTPS 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E23C8-38CE-4BE2-9B43-8ADA7ED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479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Load Balancer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TLS certificate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B50FD-F572-4A4E-B5FB-011DC5AC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6F3CD-A21A-4D3B-A5AF-81E6C84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3e45f5f8743d4">
            <a:extLst>
              <a:ext uri="{96DAC541-7B7A-43D3-8B79-37D633B846F1}">
                <asvg:svgBlip xmlns:asvg="http://schemas.microsoft.com/office/drawing/2016/SVG/main" r:embed="R0d8f93f67ee047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3752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43C50-DD0B-49C9-8B15-B1C19FA2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24275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Static 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2516D-C017-4F3F-9E7B-1EC542B2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Object Storage/CDN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no server secret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1CB58-7080-4991-84FB-B2C171E1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657350"/>
            <a:ext cx="2667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EFB"/>
          </a:solidFill>
          <a:ln xmlns:a="http://schemas.openxmlformats.org/drawingml/2006/main" w="9525">
            <a:solidFill>
              <a:srgbClr val="BEEB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84433-B46E-4000-A79B-A80608A9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716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B67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B67D"/>
                </a:solidFill>
                <a:latin typeface="Arial"/>
                <a:ea typeface="Arial"/>
                <a:cs typeface="Arial"/>
              </a:rPr>
              <a:t>Private Service Zone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84410-8F6F-415D-B612-C426B580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B01AAC-FD9E-423A-95CB-CEAFF533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eacd16b9b4871">
            <a:extLst>
              <a:ext uri="{96DAC541-7B7A-43D3-8B79-37D633B846F1}">
                <asvg:svgBlip xmlns:asvg="http://schemas.microsoft.com/office/drawing/2016/SVG/main" r:embed="R1d2e14043b1444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52900" y="24193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B2018-1A0E-4945-B0EE-FAD9A2E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Express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1BC3D-8A4D-4797-9DC8-74568113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JWT auth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role/user ownership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27D04-5A10-4C6F-AABE-682AAE26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1981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C3A1A-1217-43DC-886B-11697B5B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5dab9e6a4d74">
            <a:extLst>
              <a:ext uri="{96DAC541-7B7A-43D3-8B79-37D633B846F1}">
                <asvg:svgBlip xmlns:asvg="http://schemas.microsoft.com/office/drawing/2016/SVG/main" r:embed="Re1381d712f984c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52900" y="3752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56DAE-C892-44EC-8377-039643C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242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FastAPI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024AF8-7A0A-42CA-8D27-9FCF3734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Bearer INTERNAL_TOKEN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private endpoint only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DAD07-3141-4C0C-B2EC-0F7BE188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57350"/>
            <a:ext cx="2095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1E16B-43BA-4A1B-BD2D-8A73A2BF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716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Data Zone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7360F5-A0D7-4107-9A90-102F6014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1562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B2A7F7-F387-40DE-9FE5-967AF142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6109f3f2342e3">
            <a:extLst>
              <a:ext uri="{96DAC541-7B7A-43D3-8B79-37D633B846F1}">
                <asvg:svgBlip xmlns:asvg="http://schemas.microsoft.com/office/drawing/2016/SVG/main" r:embed="Racb56b6cf2d045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0" y="24193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3BA540-3710-405F-AF10-D493030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90775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Cloud DB MySQL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80C5F0-5D29-4B18-BAA6-6ED09AE2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479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private access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backup policy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89B0B6-4462-48CB-B1C4-F30789F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81400"/>
            <a:ext cx="1562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FB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6A10AE-2DF0-4770-BB1C-3D9854A7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81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e9bb8ef8e49d1">
            <a:extLst>
              <a:ext uri="{96DAC541-7B7A-43D3-8B79-37D633B846F1}">
                <asvg:svgBlip xmlns:asvg="http://schemas.microsoft.com/office/drawing/2016/SVG/main" r:embed="Rd53f8aa9e81f46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0" y="37528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093D63-BD52-4114-ADC6-D7978800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24275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Object Storage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764BBE-6CF9-4055-B1FC-7A826929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81450"/>
            <a:ext cx="933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upload lifecycle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access policy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162666-29D3-486A-92BC-198591B9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57350"/>
            <a:ext cx="18478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F8D99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F1E77E-54A7-446A-BEDD-E9EC44F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7165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External APIs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7DAAA0-9BAC-446B-9C82-B7D59F60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138080-1392-4BEB-93DC-644B4F2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500c466484933">
            <a:extLst>
              <a:ext uri="{96DAC541-7B7A-43D3-8B79-37D633B846F1}">
                <asvg:svgBlip xmlns:asvg="http://schemas.microsoft.com/office/drawing/2016/SVG/main" r:embed="Re92516d6987d48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2571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BE75F1-0975-49EE-B967-45A84B6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431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CLOVA OCR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70C851-69FF-4574-A8C1-4613BA7B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003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secret key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rate limit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58DBAA-9CBB-46DA-A433-9B7C1BFE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3906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E6EA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7CD30F-5F72-47E6-AD8D-93D19BA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23074adae42fe">
            <a:extLst>
              <a:ext uri="{96DAC541-7B7A-43D3-8B79-37D633B846F1}">
                <asvg:svgBlip xmlns:asvg="http://schemas.microsoft.com/office/drawing/2016/SVG/main" r:embed="Rd87d37519ae44b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38671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7E1157-180A-463A-A87C-5B1FD4D6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385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Gemini API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290A02-CC61-4B6E-9025-0CCFEDB0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957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fallback</a:t>
            </a:r>
          </a:p>
          <a:p xmlns:a="http://schemas.openxmlformats.org/drawingml/2006/main">
            <a:pPr algn="l">
              <a:def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7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file cache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2BD185-76BE-4191-89C0-E37ECC2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38425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871D6D-9426-479D-8176-F7273B6B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09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5BD89D-E78B-476B-B618-ACC143AF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719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95E270-F5EA-40FF-9FD5-D01F5045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84FBBC-370A-41E4-9C17-36F4CD8F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38425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7FAD39-1014-4A76-8863-B5625AA4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09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C5D1A2-3B8B-4F8B-8F81-D951086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71925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B6EC20-F403-4065-9CDC-556A444D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2FA2C7-EE3E-41B0-B382-732AEF0F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0753EB-AE30-4287-BB34-4A9D0235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67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00B8BB-FB82-4BF3-BC90-D4A34BC0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프론트엔드에는 DB/API 키를 두지 않고, 민감 정보는 서버 환경변수 또는 Secret Manager로 분리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7195F7-25A4-4095-82EF-D6BBCED7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667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97A59B-D691-427E-86BB-5AFC61AE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457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FastAPI 직접 공개 금지: Express만 내부 토큰으로 호출하고, 외부 OCR/LLM은 NAT를 통해 통제</a:t>
            </a:r>
          </a:p>
        </p:txBody>
      </p:sp>
    </p:spTree>
    <p:extLst>
      <p:ext uri="{BB962C8B-B14F-4D97-AF65-F5344CB8AC3E}">
        <p14:creationId xmlns:p14="http://schemas.microsoft.com/office/powerpoint/2010/main" val="3292136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44FB2-987F-46E7-8924-28DD6F2C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7F6B74D7-797F-4403-ADD8-02AAA9CE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B01AE7F7-FE53-4EE0-9188-FC13E71D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DATA RESPONSIBILITY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3D415-4A71-4844-8D99-F83B189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저장소별 책임을 나누면 분석 결과와 운영 데이터가 섞이지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18AE6-CF31-4E19-A5EB-47B7CC04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현재 프로젝트의 DB 테이블과 파일 캐시를 클라우드 저장소 책임으로 재배치한 설계입니다.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95C5A-DF88-41C2-BFDA-496D795A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3433D-8A4A-4C88-80D3-A4FCDC8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51F36-E169-4D71-94F1-1BA6609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687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C9C6F-9770-4DB9-93F7-71628403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저장소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A583A-7814-4293-ACE1-923F754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0975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46A46-4EB7-4020-96B9-BC1F062C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274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담는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8DE1F-3D86-45C6-8322-60719478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운영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35E1F-97EC-4CF9-A3EE-05A3E43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A628B-318D-4487-A668-BD1A907D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954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4B5D2-DBC0-4C63-B5D4-82DB30C2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B3DEE-96A5-4C93-8982-A0368C5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9525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1E417-BF3A-491C-810F-B6FA6EE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88304-4E86-47ED-9E19-1E2EAB9E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Object 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641803-5095-41C5-91A1-C7A7CE86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원본/리사이즈 이미지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DF029-692B-4D79-B758-0E81674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scan image, product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3BE58-6B1C-4B62-BA8A-123E9D3D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Lifecycle + private URL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4D01C-D8EC-4D16-929D-C62274E4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78347-328E-4C62-8760-019FF4F8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E8EBD-3924-4137-8DC7-68040464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Cloud DB 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9DFC0-F96C-4F5B-8735-39341FE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527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업무 데이터 원장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E8891-9CA2-4367-9EB8-E718F8D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users, profile, upload, analysis, product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F0CC55-DB7F-40BB-A433-D4CB5B2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Private subnet + backup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F7A19B-D493-499F-BAB7-2E41D471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BD292-D795-4EDA-B484-54C4B23E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AFCD0-9464-4908-8A6D-D35ABCC1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Cache /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F741C-BD35-45B6-8A12-AFBBD409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짧은 상태·중복 방지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75DF26-FF88-4F8C-A239-56CF4ED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385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task map, Gemini reason cache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0EA6D1-27F7-4583-B5E6-04D23926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385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MVP file cache -&gt; managed cache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53AA2-3F38-4166-8E86-1E5AE059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A31A1D-081A-42B6-8FCE-67DEF446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87DC1D-3F08-4C5C-9273-B3F3EE3D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Model Storage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8209CB-CED4-40DD-91D6-093E1142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24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 모델과 seed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3203B1-88E9-499F-92D0-4B1DAF67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243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best.pt, yolov8n.pt, ingredient index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58EE3E-01EC-42DD-B0A6-46094FCF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배포 버전 고정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A6FCE9-083A-4DE5-8266-67DA8BCC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CD0191-45B9-469D-9802-46D871F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A2401-CEBA-4785-8B65-3DF03575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Logs / Metrics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5C068B-11B1-47F6-AF2C-2C72140D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10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운영 관측성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BD6612-D642-4C5D-AA7F-A3661EA9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API latency, AI duration, 429, failures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98F240-9937-432E-A5E2-84EAB23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Cloud Log Analytics + Alert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99847E-9DF2-4A3F-B733-25DBBE4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10077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8D9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E09AF-6556-4F3F-8262-EB5F22F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674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권장: MVP에서도 업로드 원본은 Object Storage로 빼고, DB에는 경로·분석 결과·점수만 저장합니다. AI task 상태는 Redis/Queue 도입 전까지는 짧게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354817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7C3C63-ACFD-4874-88B2-68438BAF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2BAABB50-1425-4EC6-9C7F-CD650DF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4E1B04DC-5A63-4E45-9B09-A67A3D6E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IMPLEMENTATION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8D31E-91A7-4994-87F8-64191E49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처음부터 복잡하게 가지 말고, AI 병목이 보일 때 단계적으로 확장합니다.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31F4C-DD8F-40E0-9F8B-A5A3583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수업 산출물로는 MVP 배포안과 확장안을 함께 제시하는 구성이 설명하기 좋습니다.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DFAEA-22CC-4875-A18A-6A6CC9ED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Sunsu Care cloud architecture draft | classroom architecture extended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D2516-FB95-48D2-BC1F-95FAE08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94A3B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95A76-9756-4263-A8B6-22846B6A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22582-A9E3-4B1B-87A3-FE1282A6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88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AE2CB-6233-42FA-8237-380DDD20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EC7BA-5F96-4F09-9BE3-3345816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03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FCF00-88E2-4C49-B8CD-63AEA43A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14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MVP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CDDC9-D0A3-47FA-8F5E-3E4CA855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6A3D8"/>
                </a:solidFill>
                <a:latin typeface="Arial"/>
                <a:ea typeface="Arial"/>
                <a:cs typeface="Arial"/>
              </a:rPr>
              <a:t>Docker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4AC1-6ED0-4B90-A612-9026FE3F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Object Storage + Cloud DB + Docker 기반 Express/FastAPI 분리 배포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D925F-FAC8-42E3-B2A7-426B0473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45589-4561-47A0-9DAD-433D7172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288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C5B71-D003-48A2-8D23-3328FC61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BBB55-96D6-4503-B3BD-9F65FF5A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03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3A203-1B9C-4493-A674-C10B422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14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운영 안정화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B27C9-DE73-4F4B-80F7-7EF1736F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B6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CB67D"/>
                </a:solidFill>
                <a:latin typeface="Arial"/>
                <a:ea typeface="Arial"/>
                <a:cs typeface="Arial"/>
              </a:rPr>
              <a:t>Managed observability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D171E-FD91-44CD-BD6D-1B7BAE55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19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Cloud Log Analytics, Cloud Insight, Health Check, 알림 기준 추가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77130-A1EC-4588-9840-BA50E20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E344B-A2E4-467D-96DC-719CE537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BBBCB3-55EE-422E-9054-C753A0F0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31302-1BD8-4F09-BD5E-7D5C979D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03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7AD7F0-DC45-4939-ABFE-9EE62AB2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 병목 해소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6A833-3B8B-4DFA-803E-D0547C87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Queue + worker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5F85A-D226-400C-9E99-EBDE525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분석 요청을 큐로 분리하고 FastAPI worker를 수평 확장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AD268-7632-4325-84F8-A79F5BFA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343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18C6C8-040A-4BF2-83EC-5C56B0D6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F0EF0-310F-4E42-A3CA-92AB442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99A01-EE6C-4C87-8ACE-F2ACCB44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03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3E673-35DB-493D-B472-2F3277BC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서비스 확장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5774ED-1C20-45B5-B8C5-5C5A138C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NKS + autoscale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CFDA18-9659-42BC-9247-284E64FF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Ncloud Kubernetes Service, private registry, rolling deployment 적용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389CF-AD06-4A58-A295-ACF32F7A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610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E"/>
          </a:solidFill>
          <a:ln xmlns:a="http://schemas.openxmlformats.org/drawingml/2006/main" w="9525">
            <a:solidFill>
              <a:srgbClr val="B7E3F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9D478-76B2-4DAF-94BD-1A176D6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48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발표용 결론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038A9B-43EA-4552-A8FC-F67D341C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00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57A394-AED6-4825-96FD-D7F01ECC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수업 구조는 유지하되, Sunsu Care는 AI 서버와 DB를 Private으로 격리해야 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ECBEC-1B7D-4266-AA1E-DF5C4D3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46101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F8D9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57EEE3-B50A-4117-AAA7-70867B9B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48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9E0B"/>
                </a:solidFill>
                <a:latin typeface="Malgun Gothic"/>
                <a:ea typeface="Malgun Gothic"/>
                <a:cs typeface="Malgun Gothic"/>
              </a:rPr>
              <a:t>구현 우선순위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4331F5-3E53-4CEF-BF1A-B1F1871C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006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9D8118-7232-4C29-8015-BCE39319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340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1차: Object Storage, Cloud DB, Docker 배포. 2차: Queue/Redis, NKS, 모니터링 자동화.</a:t>
            </a:r>
          </a:p>
        </p:txBody>
      </p:sp>
    </p:spTree>
    <p:extLst>
      <p:ext uri="{BB962C8B-B14F-4D97-AF65-F5344CB8AC3E}">
        <p14:creationId xmlns:p14="http://schemas.microsoft.com/office/powerpoint/2010/main" val="1903867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2026-06-17T03:47:36.1240000Z</dcterms:created>
  <dcterms:modified xsi:type="dcterms:W3CDTF">2026-06-17T03:47:36.1240000Z</dcterms:modified>
</coreProperties>
</file>